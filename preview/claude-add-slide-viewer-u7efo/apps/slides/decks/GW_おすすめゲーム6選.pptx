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0"/>
  </p:notesMasterIdLst>
  <p:sldIdLst>
    <p:sldId id="256" r:id="rId2"/>
    <p:sldId id="257" r:id="rId3"/>
    <p:sldId id="258" r:id="rId4"/>
    <p:sldId id="259" r:id="rId5"/>
    <p:sldId id="260" r:id="rId6"/>
    <p:sldId id="261" r:id="rId7"/>
    <p:sldId id="262" r:id="rId8"/>
    <p:sldId id="263" r:id="rId9"/>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p:scale>
          <a:sx n="100" d="100"/>
          <a:sy n="100" d="100"/>
        </p:scale>
        <p:origin x="1914" y="85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819830066"/>
      </p:ext>
    </p:extLst>
  </p:cSld>
  <p:clrMap bg1="lt1" tx1="dk1" bg2="lt2" tx2="dk2" accent1="accent1" accent2="accent2" accent3="accent3" accent4="accent4" accent5="accent5" accent6="accent6" hlink="hlink" folHlink="folHlink"/>
  <p:notesStyle>
    <a:lvl1pPr marL="0" algn="l" defTabSz="914400" rtl="0" eaLnBrk="1" latinLnBrk="0" hangingPunct="1">
      <a:defRPr kumimoji="1" sz="1200" kern="1200">
        <a:solidFill>
          <a:schemeClr val="tx1"/>
        </a:solidFill>
        <a:latin typeface="+mn-lt"/>
        <a:ea typeface="+mn-ea"/>
        <a:cs typeface="+mn-cs"/>
      </a:defRPr>
    </a:lvl1pPr>
    <a:lvl2pPr marL="457200" algn="l" defTabSz="914400" rtl="0" eaLnBrk="1" latinLnBrk="0" hangingPunct="1">
      <a:defRPr kumimoji="1" sz="1200" kern="1200">
        <a:solidFill>
          <a:schemeClr val="tx1"/>
        </a:solidFill>
        <a:latin typeface="+mn-lt"/>
        <a:ea typeface="+mn-ea"/>
        <a:cs typeface="+mn-cs"/>
      </a:defRPr>
    </a:lvl2pPr>
    <a:lvl3pPr marL="914400" algn="l" defTabSz="914400" rtl="0" eaLnBrk="1" latinLnBrk="0" hangingPunct="1">
      <a:defRPr kumimoji="1" sz="1200" kern="1200">
        <a:solidFill>
          <a:schemeClr val="tx1"/>
        </a:solidFill>
        <a:latin typeface="+mn-lt"/>
        <a:ea typeface="+mn-ea"/>
        <a:cs typeface="+mn-cs"/>
      </a:defRPr>
    </a:lvl3pPr>
    <a:lvl4pPr marL="1371600" algn="l" defTabSz="914400" rtl="0" eaLnBrk="1" latinLnBrk="0" hangingPunct="1">
      <a:defRPr kumimoji="1" sz="1200" kern="1200">
        <a:solidFill>
          <a:schemeClr val="tx1"/>
        </a:solidFill>
        <a:latin typeface="+mn-lt"/>
        <a:ea typeface="+mn-ea"/>
        <a:cs typeface="+mn-cs"/>
      </a:defRPr>
    </a:lvl4pPr>
    <a:lvl5pPr marL="1828800" algn="l" defTabSz="914400" rtl="0" eaLnBrk="1" latinLnBrk="0" hangingPunct="1">
      <a:defRPr kumimoji="1" sz="1200" kern="1200">
        <a:solidFill>
          <a:schemeClr val="tx1"/>
        </a:solidFill>
        <a:latin typeface="+mn-lt"/>
        <a:ea typeface="+mn-ea"/>
        <a:cs typeface="+mn-cs"/>
      </a:defRPr>
    </a:lvl5pPr>
    <a:lvl6pPr marL="2286000" algn="l" defTabSz="914400" rtl="0" eaLnBrk="1" latinLnBrk="0" hangingPunct="1">
      <a:defRPr kumimoji="1" sz="1200" kern="1200">
        <a:solidFill>
          <a:schemeClr val="tx1"/>
        </a:solidFill>
        <a:latin typeface="+mn-lt"/>
        <a:ea typeface="+mn-ea"/>
        <a:cs typeface="+mn-cs"/>
      </a:defRPr>
    </a:lvl6pPr>
    <a:lvl7pPr marL="2743200" algn="l" defTabSz="914400" rtl="0" eaLnBrk="1" latinLnBrk="0" hangingPunct="1">
      <a:defRPr kumimoji="1" sz="1200" kern="1200">
        <a:solidFill>
          <a:schemeClr val="tx1"/>
        </a:solidFill>
        <a:latin typeface="+mn-lt"/>
        <a:ea typeface="+mn-ea"/>
        <a:cs typeface="+mn-cs"/>
      </a:defRPr>
    </a:lvl7pPr>
    <a:lvl8pPr marL="3200400" algn="l" defTabSz="914400" rtl="0" eaLnBrk="1" latinLnBrk="0" hangingPunct="1">
      <a:defRPr kumimoji="1" sz="1200" kern="1200">
        <a:solidFill>
          <a:schemeClr val="tx1"/>
        </a:solidFill>
        <a:latin typeface="+mn-lt"/>
        <a:ea typeface="+mn-ea"/>
        <a:cs typeface="+mn-cs"/>
      </a:defRPr>
    </a:lvl8pPr>
    <a:lvl9pPr marL="3657600" algn="l" defTabSz="914400" rtl="0" eaLnBrk="1" latinLnBrk="0" hangingPunct="1">
      <a:defRPr kumimoji="1"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1.xml"/><Relationship Id="rId5" Type="http://schemas.openxmlformats.org/officeDocument/2006/relationships/image" Target="../media/image6.png"/><Relationship Id="rId4" Type="http://schemas.openxmlformats.org/officeDocument/2006/relationships/image" Target="../media/image5.png"/></Relationships>
</file>

<file path=ppt/slides/_rels/slide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5.xml"/><Relationship Id="rId1" Type="http://schemas.openxmlformats.org/officeDocument/2006/relationships/slideLayout" Target="../slideLayouts/slideLayout1.xml"/><Relationship Id="rId4" Type="http://schemas.openxmlformats.org/officeDocument/2006/relationships/image" Target="../media/image8.png"/></Relationships>
</file>

<file path=ppt/slides/_rels/slide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6.xml"/><Relationship Id="rId1" Type="http://schemas.openxmlformats.org/officeDocument/2006/relationships/slideLayout" Target="../slideLayouts/slideLayout1.xml"/><Relationship Id="rId4" Type="http://schemas.openxmlformats.org/officeDocument/2006/relationships/image" Target="../media/image10.png"/></Relationships>
</file>

<file path=ppt/slides/_rels/slide7.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8" Type="http://schemas.openxmlformats.org/officeDocument/2006/relationships/image" Target="../media/image8.png"/><Relationship Id="rId3" Type="http://schemas.openxmlformats.org/officeDocument/2006/relationships/image" Target="../media/image1.png"/><Relationship Id="rId7" Type="http://schemas.openxmlformats.org/officeDocument/2006/relationships/image" Target="../media/image11.png"/><Relationship Id="rId2" Type="http://schemas.openxmlformats.org/officeDocument/2006/relationships/notesSlide" Target="../notesSlides/notesSlide8.xml"/><Relationship Id="rId1" Type="http://schemas.openxmlformats.org/officeDocument/2006/relationships/slideLayout" Target="../slideLayouts/slideLayout1.xml"/><Relationship Id="rId6" Type="http://schemas.openxmlformats.org/officeDocument/2006/relationships/image" Target="../media/image10.png"/><Relationship Id="rId5" Type="http://schemas.openxmlformats.org/officeDocument/2006/relationships/image" Target="../media/image4.png"/><Relationship Id="rId10" Type="http://schemas.openxmlformats.org/officeDocument/2006/relationships/image" Target="../media/image13.png"/><Relationship Id="rId4" Type="http://schemas.openxmlformats.org/officeDocument/2006/relationships/image" Target="../media/image2.png"/><Relationship Id="rId9" Type="http://schemas.openxmlformats.org/officeDocument/2006/relationships/image" Target="../media/image12.png"/></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F0E17"/>
        </a:solidFill>
        <a:effectLst/>
      </p:bgPr>
    </p:bg>
    <p:spTree>
      <p:nvGrpSpPr>
        <p:cNvPr id="1" name=""/>
        <p:cNvGrpSpPr/>
        <p:nvPr/>
      </p:nvGrpSpPr>
      <p:grpSpPr>
        <a:xfrm>
          <a:off x="0" y="0"/>
          <a:ext cx="0" cy="0"/>
          <a:chOff x="0" y="0"/>
          <a:chExt cx="0" cy="0"/>
        </a:xfrm>
      </p:grpSpPr>
      <p:sp>
        <p:nvSpPr>
          <p:cNvPr id="2" name="Shape 0"/>
          <p:cNvSpPr/>
          <p:nvPr/>
        </p:nvSpPr>
        <p:spPr>
          <a:xfrm>
            <a:off x="-1371600" y="-1371600"/>
            <a:ext cx="5486400" cy="5486400"/>
          </a:xfrm>
          <a:prstGeom prst="ellipse">
            <a:avLst/>
          </a:prstGeom>
          <a:solidFill>
            <a:srgbClr val="6C3483">
              <a:alpha val="12000"/>
            </a:srgbClr>
          </a:solidFill>
          <a:ln w="12700">
            <a:solidFill>
              <a:srgbClr val="6C3483">
                <a:alpha val="12000"/>
              </a:srgbClr>
            </a:solidFill>
            <a:prstDash val="solid"/>
          </a:ln>
        </p:spPr>
        <p:txBody>
          <a:bodyPr/>
          <a:lstStyle/>
          <a:p>
            <a:endParaRPr lang="ja-JP" altLang="en-US"/>
          </a:p>
        </p:txBody>
      </p:sp>
      <p:sp>
        <p:nvSpPr>
          <p:cNvPr id="3" name="Shape 1"/>
          <p:cNvSpPr/>
          <p:nvPr/>
        </p:nvSpPr>
        <p:spPr>
          <a:xfrm>
            <a:off x="5943600" y="1828800"/>
            <a:ext cx="4572000" cy="4572000"/>
          </a:xfrm>
          <a:prstGeom prst="ellipse">
            <a:avLst/>
          </a:prstGeom>
          <a:solidFill>
            <a:srgbClr val="E55039">
              <a:alpha val="12000"/>
            </a:srgbClr>
          </a:solidFill>
          <a:ln w="12700">
            <a:solidFill>
              <a:srgbClr val="E55039">
                <a:alpha val="12000"/>
              </a:srgbClr>
            </a:solidFill>
            <a:prstDash val="solid"/>
          </a:ln>
        </p:spPr>
        <p:txBody>
          <a:bodyPr/>
          <a:lstStyle/>
          <a:p>
            <a:endParaRPr lang="ja-JP" altLang="en-US"/>
          </a:p>
        </p:txBody>
      </p:sp>
      <p:sp>
        <p:nvSpPr>
          <p:cNvPr id="4" name="Shape 2"/>
          <p:cNvSpPr/>
          <p:nvPr/>
        </p:nvSpPr>
        <p:spPr>
          <a:xfrm>
            <a:off x="3200400" y="2743200"/>
            <a:ext cx="3657600" cy="3657600"/>
          </a:xfrm>
          <a:prstGeom prst="ellipse">
            <a:avLst/>
          </a:prstGeom>
          <a:solidFill>
            <a:srgbClr val="1A8CFF">
              <a:alpha val="12000"/>
            </a:srgbClr>
          </a:solidFill>
          <a:ln w="12700">
            <a:solidFill>
              <a:srgbClr val="1A8CFF">
                <a:alpha val="12000"/>
              </a:srgbClr>
            </a:solidFill>
            <a:prstDash val="solid"/>
          </a:ln>
        </p:spPr>
        <p:txBody>
          <a:bodyPr/>
          <a:lstStyle/>
          <a:p>
            <a:endParaRPr lang="ja-JP" altLang="en-US"/>
          </a:p>
        </p:txBody>
      </p:sp>
      <p:sp>
        <p:nvSpPr>
          <p:cNvPr id="5" name="Shape 3"/>
          <p:cNvSpPr/>
          <p:nvPr/>
        </p:nvSpPr>
        <p:spPr>
          <a:xfrm>
            <a:off x="3291840" y="320040"/>
            <a:ext cx="2560320" cy="402336"/>
          </a:xfrm>
          <a:prstGeom prst="roundRect">
            <a:avLst>
              <a:gd name="adj" fmla="val 22727"/>
            </a:avLst>
          </a:prstGeom>
          <a:solidFill>
            <a:srgbClr val="E55039"/>
          </a:solidFill>
          <a:ln w="12700">
            <a:solidFill>
              <a:srgbClr val="E55039"/>
            </a:solidFill>
            <a:prstDash val="solid"/>
          </a:ln>
        </p:spPr>
        <p:txBody>
          <a:bodyPr/>
          <a:lstStyle/>
          <a:p>
            <a:endParaRPr lang="ja-JP" altLang="en-US"/>
          </a:p>
        </p:txBody>
      </p:sp>
      <p:sp>
        <p:nvSpPr>
          <p:cNvPr id="6" name="Text 4"/>
          <p:cNvSpPr/>
          <p:nvPr/>
        </p:nvSpPr>
        <p:spPr>
          <a:xfrm>
            <a:off x="3291840" y="320040"/>
            <a:ext cx="2560320" cy="402336"/>
          </a:xfrm>
          <a:prstGeom prst="rect">
            <a:avLst/>
          </a:prstGeom>
          <a:noFill/>
          <a:ln/>
        </p:spPr>
        <p:txBody>
          <a:bodyPr wrap="square" lIns="0" tIns="0" rIns="0" bIns="0" rtlCol="0" anchor="ctr"/>
          <a:lstStyle/>
          <a:p>
            <a:pPr marL="0" indent="0" algn="ctr">
              <a:buNone/>
            </a:pPr>
            <a:r>
              <a:rPr lang="en-US" sz="1100" b="1" dirty="0">
                <a:solidFill>
                  <a:srgbClr val="FFFFFF"/>
                </a:solidFill>
              </a:rPr>
              <a:t>🎌  ゴールデンウィーク 2025</a:t>
            </a:r>
            <a:endParaRPr lang="en-US" sz="1100" dirty="0"/>
          </a:p>
        </p:txBody>
      </p:sp>
      <p:sp>
        <p:nvSpPr>
          <p:cNvPr id="7" name="Text 5"/>
          <p:cNvSpPr/>
          <p:nvPr/>
        </p:nvSpPr>
        <p:spPr>
          <a:xfrm>
            <a:off x="457200" y="960120"/>
            <a:ext cx="8229600" cy="914400"/>
          </a:xfrm>
          <a:prstGeom prst="rect">
            <a:avLst/>
          </a:prstGeom>
          <a:noFill/>
          <a:ln/>
        </p:spPr>
        <p:txBody>
          <a:bodyPr wrap="square" rtlCol="0" anchor="ctr"/>
          <a:lstStyle/>
          <a:p>
            <a:pPr marL="0" indent="0" algn="ctr">
              <a:buNone/>
            </a:pPr>
            <a:r>
              <a:rPr lang="en-US" sz="5200" b="1" dirty="0">
                <a:solidFill>
                  <a:srgbClr val="FFFFFF"/>
                </a:solidFill>
                <a:latin typeface="Arial Black" pitchFamily="34" charset="0"/>
                <a:ea typeface="Arial Black" pitchFamily="34" charset="-122"/>
                <a:cs typeface="Arial Black" pitchFamily="34" charset="-120"/>
              </a:rPr>
              <a:t>GWにやるべき</a:t>
            </a:r>
            <a:endParaRPr lang="en-US" sz="5200" dirty="0"/>
          </a:p>
        </p:txBody>
      </p:sp>
      <p:sp>
        <p:nvSpPr>
          <p:cNvPr id="8" name="Text 6"/>
          <p:cNvSpPr/>
          <p:nvPr/>
        </p:nvSpPr>
        <p:spPr>
          <a:xfrm>
            <a:off x="457200" y="1737360"/>
            <a:ext cx="8229600" cy="914400"/>
          </a:xfrm>
          <a:prstGeom prst="rect">
            <a:avLst/>
          </a:prstGeom>
          <a:noFill/>
          <a:ln/>
        </p:spPr>
        <p:txBody>
          <a:bodyPr wrap="square" rtlCol="0" anchor="ctr"/>
          <a:lstStyle/>
          <a:p>
            <a:pPr marL="0" indent="0" algn="ctr">
              <a:buNone/>
            </a:pPr>
            <a:r>
              <a:rPr lang="en-US" sz="5200" b="1" dirty="0">
                <a:solidFill>
                  <a:srgbClr val="4ECDC4"/>
                </a:solidFill>
                <a:latin typeface="Arial Black" pitchFamily="34" charset="0"/>
                <a:ea typeface="Arial Black" pitchFamily="34" charset="-122"/>
                <a:cs typeface="Arial Black" pitchFamily="34" charset="-120"/>
              </a:rPr>
              <a:t>おすすめゲーム</a:t>
            </a:r>
            <a:endParaRPr lang="en-US" sz="5200" dirty="0"/>
          </a:p>
        </p:txBody>
      </p:sp>
      <p:sp>
        <p:nvSpPr>
          <p:cNvPr id="9" name="Text 7"/>
          <p:cNvSpPr/>
          <p:nvPr/>
        </p:nvSpPr>
        <p:spPr>
          <a:xfrm>
            <a:off x="3017520" y="2514600"/>
            <a:ext cx="3108960" cy="1737360"/>
          </a:xfrm>
          <a:prstGeom prst="rect">
            <a:avLst/>
          </a:prstGeom>
          <a:noFill/>
          <a:ln/>
        </p:spPr>
        <p:txBody>
          <a:bodyPr wrap="square" rtlCol="0" anchor="ctr"/>
          <a:lstStyle/>
          <a:p>
            <a:pPr marL="0" indent="0" algn="ctr">
              <a:buNone/>
            </a:pPr>
            <a:r>
              <a:rPr lang="en-US" sz="14500" b="1" dirty="0">
                <a:solidFill>
                  <a:srgbClr val="FFFFFF">
                    <a:alpha val="92000"/>
                  </a:srgbClr>
                </a:solidFill>
                <a:latin typeface="Arial Black" pitchFamily="34" charset="0"/>
                <a:ea typeface="Arial Black" pitchFamily="34" charset="-122"/>
                <a:cs typeface="Arial Black" pitchFamily="34" charset="-120"/>
              </a:rPr>
              <a:t>6</a:t>
            </a:r>
            <a:endParaRPr lang="en-US" sz="14500" dirty="0"/>
          </a:p>
        </p:txBody>
      </p:sp>
      <p:sp>
        <p:nvSpPr>
          <p:cNvPr id="10" name="Text 8"/>
          <p:cNvSpPr/>
          <p:nvPr/>
        </p:nvSpPr>
        <p:spPr>
          <a:xfrm>
            <a:off x="5669280" y="3246120"/>
            <a:ext cx="1371600" cy="822960"/>
          </a:xfrm>
          <a:prstGeom prst="rect">
            <a:avLst/>
          </a:prstGeom>
          <a:noFill/>
          <a:ln/>
        </p:spPr>
        <p:txBody>
          <a:bodyPr wrap="square" rtlCol="0" anchor="ctr"/>
          <a:lstStyle/>
          <a:p>
            <a:pPr marL="0" indent="0">
              <a:buNone/>
            </a:pPr>
            <a:r>
              <a:rPr lang="en-US" sz="5200" b="1" dirty="0">
                <a:solidFill>
                  <a:srgbClr val="FFE66D"/>
                </a:solidFill>
                <a:latin typeface="Arial Black" pitchFamily="34" charset="0"/>
                <a:ea typeface="Arial Black" pitchFamily="34" charset="-122"/>
                <a:cs typeface="Arial Black" pitchFamily="34" charset="-120"/>
              </a:rPr>
              <a:t>選</a:t>
            </a:r>
            <a:endParaRPr lang="en-US" sz="5200" dirty="0"/>
          </a:p>
        </p:txBody>
      </p:sp>
      <p:sp>
        <p:nvSpPr>
          <p:cNvPr id="11" name="Text 9"/>
          <p:cNvSpPr/>
          <p:nvPr/>
        </p:nvSpPr>
        <p:spPr>
          <a:xfrm>
            <a:off x="457200" y="4434840"/>
            <a:ext cx="8229600" cy="411480"/>
          </a:xfrm>
          <a:prstGeom prst="rect">
            <a:avLst/>
          </a:prstGeom>
          <a:noFill/>
          <a:ln/>
        </p:spPr>
        <p:txBody>
          <a:bodyPr wrap="square" rtlCol="0" anchor="ctr"/>
          <a:lstStyle/>
          <a:p>
            <a:pPr marL="0" indent="0" algn="ctr">
              <a:buNone/>
            </a:pP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F0E17"/>
        </a:solidFill>
        <a:effectLst/>
      </p:bgPr>
    </p:bg>
    <p:spTree>
      <p:nvGrpSpPr>
        <p:cNvPr id="1" name=""/>
        <p:cNvGrpSpPr/>
        <p:nvPr/>
      </p:nvGrpSpPr>
      <p:grpSpPr>
        <a:xfrm>
          <a:off x="0" y="0"/>
          <a:ext cx="0" cy="0"/>
          <a:chOff x="0" y="0"/>
          <a:chExt cx="0" cy="0"/>
        </a:xfrm>
      </p:grpSpPr>
      <p:sp>
        <p:nvSpPr>
          <p:cNvPr id="2" name="Shape 0"/>
          <p:cNvSpPr/>
          <p:nvPr/>
        </p:nvSpPr>
        <p:spPr>
          <a:xfrm>
            <a:off x="4572000" y="-1856232"/>
            <a:ext cx="7315200" cy="7315200"/>
          </a:xfrm>
          <a:prstGeom prst="ellipse">
            <a:avLst/>
          </a:prstGeom>
          <a:solidFill>
            <a:srgbClr val="E55039">
              <a:alpha val="8000"/>
            </a:srgbClr>
          </a:solidFill>
          <a:ln w="12700">
            <a:solidFill>
              <a:srgbClr val="E55039">
                <a:alpha val="8000"/>
              </a:srgbClr>
            </a:solidFill>
            <a:prstDash val="solid"/>
          </a:ln>
        </p:spPr>
        <p:txBody>
          <a:bodyPr/>
          <a:lstStyle/>
          <a:p>
            <a:endParaRPr lang="ja-JP" altLang="en-US"/>
          </a:p>
        </p:txBody>
      </p:sp>
      <p:sp>
        <p:nvSpPr>
          <p:cNvPr id="3" name="Shape 1"/>
          <p:cNvSpPr/>
          <p:nvPr/>
        </p:nvSpPr>
        <p:spPr>
          <a:xfrm>
            <a:off x="0" y="0"/>
            <a:ext cx="164592" cy="5143500"/>
          </a:xfrm>
          <a:prstGeom prst="rect">
            <a:avLst/>
          </a:prstGeom>
          <a:solidFill>
            <a:srgbClr val="E55039"/>
          </a:solidFill>
          <a:ln w="12700">
            <a:solidFill>
              <a:srgbClr val="E55039"/>
            </a:solidFill>
            <a:prstDash val="solid"/>
          </a:ln>
        </p:spPr>
        <p:txBody>
          <a:bodyPr/>
          <a:lstStyle/>
          <a:p>
            <a:endParaRPr lang="ja-JP" altLang="en-US"/>
          </a:p>
        </p:txBody>
      </p:sp>
      <p:sp>
        <p:nvSpPr>
          <p:cNvPr id="4" name="Shape 2"/>
          <p:cNvSpPr/>
          <p:nvPr/>
        </p:nvSpPr>
        <p:spPr>
          <a:xfrm>
            <a:off x="320040" y="256032"/>
            <a:ext cx="658368" cy="658368"/>
          </a:xfrm>
          <a:prstGeom prst="rect">
            <a:avLst/>
          </a:prstGeom>
          <a:solidFill>
            <a:srgbClr val="E55039"/>
          </a:solidFill>
          <a:ln w="12700">
            <a:solidFill>
              <a:srgbClr val="E55039"/>
            </a:solidFill>
            <a:prstDash val="solid"/>
          </a:ln>
        </p:spPr>
        <p:txBody>
          <a:bodyPr/>
          <a:lstStyle/>
          <a:p>
            <a:endParaRPr lang="ja-JP" altLang="en-US"/>
          </a:p>
        </p:txBody>
      </p:sp>
      <p:sp>
        <p:nvSpPr>
          <p:cNvPr id="5" name="Text 3"/>
          <p:cNvSpPr/>
          <p:nvPr/>
        </p:nvSpPr>
        <p:spPr>
          <a:xfrm>
            <a:off x="320040" y="256032"/>
            <a:ext cx="658368" cy="658368"/>
          </a:xfrm>
          <a:prstGeom prst="rect">
            <a:avLst/>
          </a:prstGeom>
          <a:noFill/>
          <a:ln/>
        </p:spPr>
        <p:txBody>
          <a:bodyPr wrap="square" lIns="0" tIns="0" rIns="0" bIns="0" rtlCol="0" anchor="ctr"/>
          <a:lstStyle/>
          <a:p>
            <a:pPr marL="0" indent="0" algn="ctr">
              <a:buNone/>
            </a:pPr>
            <a:r>
              <a:rPr lang="en-US" sz="2200" b="1" dirty="0">
                <a:solidFill>
                  <a:srgbClr val="0F0E17"/>
                </a:solidFill>
                <a:latin typeface="Arial Black" pitchFamily="34" charset="0"/>
                <a:ea typeface="Arial Black" pitchFamily="34" charset="-122"/>
                <a:cs typeface="Arial Black" pitchFamily="34" charset="-120"/>
              </a:rPr>
              <a:t>1</a:t>
            </a:r>
            <a:endParaRPr lang="en-US" sz="2200" dirty="0"/>
          </a:p>
        </p:txBody>
      </p:sp>
      <p:sp>
        <p:nvSpPr>
          <p:cNvPr id="6" name="Shape 4"/>
          <p:cNvSpPr/>
          <p:nvPr/>
        </p:nvSpPr>
        <p:spPr>
          <a:xfrm>
            <a:off x="1115568" y="301752"/>
            <a:ext cx="2377440" cy="347472"/>
          </a:xfrm>
          <a:prstGeom prst="roundRect">
            <a:avLst>
              <a:gd name="adj" fmla="val 21053"/>
            </a:avLst>
          </a:prstGeom>
          <a:solidFill>
            <a:srgbClr val="E55039">
              <a:alpha val="25000"/>
            </a:srgbClr>
          </a:solidFill>
          <a:ln w="12700">
            <a:solidFill>
              <a:srgbClr val="E55039">
                <a:alpha val="55000"/>
              </a:srgbClr>
            </a:solidFill>
            <a:prstDash val="solid"/>
          </a:ln>
        </p:spPr>
        <p:txBody>
          <a:bodyPr/>
          <a:lstStyle/>
          <a:p>
            <a:endParaRPr lang="ja-JP" altLang="en-US"/>
          </a:p>
        </p:txBody>
      </p:sp>
      <p:sp>
        <p:nvSpPr>
          <p:cNvPr id="7" name="Text 5"/>
          <p:cNvSpPr/>
          <p:nvPr/>
        </p:nvSpPr>
        <p:spPr>
          <a:xfrm>
            <a:off x="1115568" y="301752"/>
            <a:ext cx="2377440" cy="347472"/>
          </a:xfrm>
          <a:prstGeom prst="rect">
            <a:avLst/>
          </a:prstGeom>
          <a:noFill/>
          <a:ln/>
        </p:spPr>
        <p:txBody>
          <a:bodyPr wrap="square" lIns="0" tIns="0" rIns="0" bIns="0" rtlCol="0" anchor="ctr"/>
          <a:lstStyle/>
          <a:p>
            <a:pPr marL="0" indent="0" algn="ctr">
              <a:buNone/>
            </a:pPr>
            <a:r>
              <a:rPr lang="en-US" sz="1100" b="1" dirty="0">
                <a:solidFill>
                  <a:srgbClr val="E55039"/>
                </a:solidFill>
              </a:rPr>
              <a:t>ローグライク・デッキ構築</a:t>
            </a:r>
            <a:endParaRPr lang="en-US" sz="1100" dirty="0"/>
          </a:p>
        </p:txBody>
      </p:sp>
      <p:sp>
        <p:nvSpPr>
          <p:cNvPr id="8" name="Text 6"/>
          <p:cNvSpPr/>
          <p:nvPr/>
        </p:nvSpPr>
        <p:spPr>
          <a:xfrm>
            <a:off x="7132320" y="137160"/>
            <a:ext cx="1737360" cy="1737360"/>
          </a:xfrm>
          <a:prstGeom prst="rect">
            <a:avLst/>
          </a:prstGeom>
          <a:noFill/>
          <a:ln/>
        </p:spPr>
        <p:txBody>
          <a:bodyPr wrap="square" rtlCol="0" anchor="ctr"/>
          <a:lstStyle/>
          <a:p>
            <a:pPr marL="0" indent="0" algn="ctr">
              <a:buNone/>
            </a:pPr>
            <a:r>
              <a:rPr lang="en-US" sz="7200" dirty="0">
                <a:solidFill>
                  <a:srgbClr val="000000"/>
                </a:solidFill>
              </a:rPr>
              <a:t>🃏</a:t>
            </a:r>
            <a:endParaRPr lang="en-US" sz="7200" dirty="0"/>
          </a:p>
        </p:txBody>
      </p:sp>
      <p:sp>
        <p:nvSpPr>
          <p:cNvPr id="9" name="Text 7"/>
          <p:cNvSpPr/>
          <p:nvPr/>
        </p:nvSpPr>
        <p:spPr>
          <a:xfrm>
            <a:off x="320040" y="804672"/>
            <a:ext cx="6583680" cy="868680"/>
          </a:xfrm>
          <a:prstGeom prst="rect">
            <a:avLst/>
          </a:prstGeom>
          <a:noFill/>
          <a:ln/>
        </p:spPr>
        <p:txBody>
          <a:bodyPr wrap="square" rtlCol="0" anchor="ctr"/>
          <a:lstStyle/>
          <a:p>
            <a:pPr marL="0" indent="0">
              <a:buNone/>
            </a:pPr>
            <a:r>
              <a:rPr lang="en-US" sz="3000" b="1" dirty="0">
                <a:solidFill>
                  <a:srgbClr val="FFFFFF"/>
                </a:solidFill>
                <a:latin typeface="Arial Black" pitchFamily="34" charset="0"/>
                <a:ea typeface="Arial Black" pitchFamily="34" charset="-122"/>
                <a:cs typeface="Arial Black" pitchFamily="34" charset="-120"/>
              </a:rPr>
              <a:t>Slay the Spire</a:t>
            </a:r>
            <a:endParaRPr lang="en-US" sz="3000" dirty="0"/>
          </a:p>
        </p:txBody>
      </p:sp>
      <p:sp>
        <p:nvSpPr>
          <p:cNvPr id="10" name="Shape 8"/>
          <p:cNvSpPr/>
          <p:nvPr/>
        </p:nvSpPr>
        <p:spPr>
          <a:xfrm>
            <a:off x="320040" y="1755648"/>
            <a:ext cx="5577840" cy="1371600"/>
          </a:xfrm>
          <a:prstGeom prst="rect">
            <a:avLst/>
          </a:prstGeom>
          <a:solidFill>
            <a:srgbClr val="16213E"/>
          </a:solidFill>
          <a:ln w="12700">
            <a:solidFill>
              <a:srgbClr val="E55039">
                <a:alpha val="32000"/>
              </a:srgbClr>
            </a:solidFill>
            <a:prstDash val="solid"/>
          </a:ln>
        </p:spPr>
        <p:txBody>
          <a:bodyPr/>
          <a:lstStyle/>
          <a:p>
            <a:endParaRPr lang="ja-JP" altLang="en-US"/>
          </a:p>
        </p:txBody>
      </p:sp>
      <p:sp>
        <p:nvSpPr>
          <p:cNvPr id="11" name="Text 9"/>
          <p:cNvSpPr/>
          <p:nvPr/>
        </p:nvSpPr>
        <p:spPr>
          <a:xfrm>
            <a:off x="502920" y="1801368"/>
            <a:ext cx="5212080" cy="1280160"/>
          </a:xfrm>
          <a:prstGeom prst="rect">
            <a:avLst/>
          </a:prstGeom>
          <a:noFill/>
          <a:ln/>
        </p:spPr>
        <p:txBody>
          <a:bodyPr wrap="square" rtlCol="0" anchor="ctr"/>
          <a:lstStyle/>
          <a:p>
            <a:pPr marL="0" indent="0">
              <a:buNone/>
            </a:pPr>
            <a:r>
              <a:rPr lang="en-US" sz="1300" dirty="0" err="1">
                <a:solidFill>
                  <a:srgbClr val="D1D5DB"/>
                </a:solidFill>
              </a:rPr>
              <a:t>カードを集め、デッキを強化しながら塔を攻略するローグライクの金字塔。気づけば何時間も経っている魔性の面白さ</a:t>
            </a:r>
            <a:r>
              <a:rPr lang="en-US" sz="1300" dirty="0">
                <a:solidFill>
                  <a:srgbClr val="D1D5DB"/>
                </a:solidFill>
              </a:rPr>
              <a:t>。</a:t>
            </a:r>
          </a:p>
          <a:p>
            <a:pPr marL="0" indent="0">
              <a:buNone/>
            </a:pPr>
            <a:r>
              <a:rPr lang="ja-JP" altLang="en-US" sz="1300" dirty="0">
                <a:solidFill>
                  <a:srgbClr val="D1D5DB"/>
                </a:solidFill>
              </a:rPr>
              <a:t>毎日一周はしている</a:t>
            </a:r>
            <a:endParaRPr lang="en-US" sz="1300" dirty="0">
              <a:solidFill>
                <a:srgbClr val="D1D5DB"/>
              </a:solidFill>
            </a:endParaRPr>
          </a:p>
          <a:p>
            <a:pPr marL="0" indent="0">
              <a:buNone/>
            </a:pPr>
            <a:r>
              <a:rPr lang="ja-JP" altLang="en-US" sz="1300" dirty="0">
                <a:solidFill>
                  <a:srgbClr val="D1D5DB"/>
                </a:solidFill>
              </a:rPr>
              <a:t>最近２も発売されたので、そっちも含めて遊ぶのも</a:t>
            </a:r>
            <a:endParaRPr lang="en-US" sz="1300" dirty="0"/>
          </a:p>
        </p:txBody>
      </p:sp>
      <p:sp>
        <p:nvSpPr>
          <p:cNvPr id="12" name="Shape 10"/>
          <p:cNvSpPr/>
          <p:nvPr/>
        </p:nvSpPr>
        <p:spPr>
          <a:xfrm>
            <a:off x="320040" y="3246120"/>
            <a:ext cx="1783080" cy="1234440"/>
          </a:xfrm>
          <a:prstGeom prst="rect">
            <a:avLst/>
          </a:prstGeom>
          <a:solidFill>
            <a:srgbClr val="0D1B2A"/>
          </a:solidFill>
          <a:ln w="12700">
            <a:solidFill>
              <a:srgbClr val="E55039">
                <a:alpha val="38000"/>
              </a:srgbClr>
            </a:solidFill>
            <a:prstDash val="solid"/>
          </a:ln>
        </p:spPr>
        <p:txBody>
          <a:bodyPr/>
          <a:lstStyle/>
          <a:p>
            <a:endParaRPr lang="ja-JP" altLang="en-US"/>
          </a:p>
        </p:txBody>
      </p:sp>
      <p:sp>
        <p:nvSpPr>
          <p:cNvPr id="13" name="Text 11"/>
          <p:cNvSpPr/>
          <p:nvPr/>
        </p:nvSpPr>
        <p:spPr>
          <a:xfrm>
            <a:off x="320040" y="3282696"/>
            <a:ext cx="1783080" cy="384048"/>
          </a:xfrm>
          <a:prstGeom prst="rect">
            <a:avLst/>
          </a:prstGeom>
          <a:noFill/>
          <a:ln/>
        </p:spPr>
        <p:txBody>
          <a:bodyPr wrap="square" rtlCol="0" anchor="ctr"/>
          <a:lstStyle/>
          <a:p>
            <a:pPr marL="0" indent="0" algn="ctr">
              <a:buNone/>
            </a:pPr>
            <a:r>
              <a:rPr lang="en-US" sz="1800" dirty="0">
                <a:solidFill>
                  <a:srgbClr val="000000"/>
                </a:solidFill>
              </a:rPr>
              <a:t>🎮</a:t>
            </a:r>
            <a:endParaRPr lang="en-US" sz="1800" dirty="0"/>
          </a:p>
        </p:txBody>
      </p:sp>
      <p:sp>
        <p:nvSpPr>
          <p:cNvPr id="14" name="Text 12"/>
          <p:cNvSpPr/>
          <p:nvPr/>
        </p:nvSpPr>
        <p:spPr>
          <a:xfrm>
            <a:off x="320040" y="3648456"/>
            <a:ext cx="1783080" cy="219456"/>
          </a:xfrm>
          <a:prstGeom prst="rect">
            <a:avLst/>
          </a:prstGeom>
          <a:noFill/>
          <a:ln/>
        </p:spPr>
        <p:txBody>
          <a:bodyPr wrap="square" rtlCol="0" anchor="ctr"/>
          <a:lstStyle/>
          <a:p>
            <a:pPr marL="0" indent="0" algn="ctr">
              <a:buNone/>
            </a:pPr>
            <a:r>
              <a:rPr lang="en-US" sz="900" dirty="0">
                <a:solidFill>
                  <a:srgbClr val="8892A4"/>
                </a:solidFill>
              </a:rPr>
              <a:t>プラットフォーム</a:t>
            </a:r>
            <a:endParaRPr lang="en-US" sz="900" dirty="0"/>
          </a:p>
        </p:txBody>
      </p:sp>
      <p:sp>
        <p:nvSpPr>
          <p:cNvPr id="15" name="Text 13"/>
          <p:cNvSpPr/>
          <p:nvPr/>
        </p:nvSpPr>
        <p:spPr>
          <a:xfrm>
            <a:off x="320040" y="3858768"/>
            <a:ext cx="1783080" cy="512064"/>
          </a:xfrm>
          <a:prstGeom prst="rect">
            <a:avLst/>
          </a:prstGeom>
          <a:noFill/>
          <a:ln/>
        </p:spPr>
        <p:txBody>
          <a:bodyPr wrap="square" rtlCol="0" anchor="t"/>
          <a:lstStyle/>
          <a:p>
            <a:pPr marL="0" indent="0" algn="ctr">
              <a:buNone/>
            </a:pPr>
            <a:r>
              <a:rPr lang="en-US" sz="950" b="1" dirty="0">
                <a:solidFill>
                  <a:srgbClr val="FFFFFF"/>
                </a:solidFill>
              </a:rPr>
              <a:t>Switch / PC / PS4 / iOS・Android</a:t>
            </a:r>
            <a:endParaRPr lang="en-US" sz="950" dirty="0"/>
          </a:p>
        </p:txBody>
      </p:sp>
      <p:sp>
        <p:nvSpPr>
          <p:cNvPr id="16" name="Shape 14"/>
          <p:cNvSpPr/>
          <p:nvPr/>
        </p:nvSpPr>
        <p:spPr>
          <a:xfrm>
            <a:off x="2125980" y="3246120"/>
            <a:ext cx="1783080" cy="1234440"/>
          </a:xfrm>
          <a:prstGeom prst="rect">
            <a:avLst/>
          </a:prstGeom>
          <a:solidFill>
            <a:srgbClr val="0D1B2A"/>
          </a:solidFill>
          <a:ln w="12700">
            <a:solidFill>
              <a:srgbClr val="E55039">
                <a:alpha val="38000"/>
              </a:srgbClr>
            </a:solidFill>
            <a:prstDash val="solid"/>
          </a:ln>
        </p:spPr>
        <p:txBody>
          <a:bodyPr/>
          <a:lstStyle/>
          <a:p>
            <a:endParaRPr lang="ja-JP" altLang="en-US"/>
          </a:p>
        </p:txBody>
      </p:sp>
      <p:sp>
        <p:nvSpPr>
          <p:cNvPr id="17" name="Text 15"/>
          <p:cNvSpPr/>
          <p:nvPr/>
        </p:nvSpPr>
        <p:spPr>
          <a:xfrm>
            <a:off x="2125980" y="3282696"/>
            <a:ext cx="1783080" cy="384048"/>
          </a:xfrm>
          <a:prstGeom prst="rect">
            <a:avLst/>
          </a:prstGeom>
          <a:noFill/>
          <a:ln/>
        </p:spPr>
        <p:txBody>
          <a:bodyPr wrap="square" rtlCol="0" anchor="ctr"/>
          <a:lstStyle/>
          <a:p>
            <a:pPr marL="0" indent="0" algn="ctr">
              <a:buNone/>
            </a:pPr>
            <a:r>
              <a:rPr lang="en-US" sz="1800" dirty="0">
                <a:solidFill>
                  <a:srgbClr val="000000"/>
                </a:solidFill>
              </a:rPr>
              <a:t>⏱</a:t>
            </a:r>
            <a:endParaRPr lang="en-US" sz="1800" dirty="0"/>
          </a:p>
        </p:txBody>
      </p:sp>
      <p:sp>
        <p:nvSpPr>
          <p:cNvPr id="18" name="Text 16"/>
          <p:cNvSpPr/>
          <p:nvPr/>
        </p:nvSpPr>
        <p:spPr>
          <a:xfrm>
            <a:off x="2125980" y="3648456"/>
            <a:ext cx="1783080" cy="219456"/>
          </a:xfrm>
          <a:prstGeom prst="rect">
            <a:avLst/>
          </a:prstGeom>
          <a:noFill/>
          <a:ln/>
        </p:spPr>
        <p:txBody>
          <a:bodyPr wrap="square" rtlCol="0" anchor="ctr"/>
          <a:lstStyle/>
          <a:p>
            <a:pPr marL="0" indent="0" algn="ctr">
              <a:buNone/>
            </a:pPr>
            <a:r>
              <a:rPr lang="ja-JP" altLang="en-US" sz="900" dirty="0">
                <a:solidFill>
                  <a:srgbClr val="8892A4"/>
                </a:solidFill>
              </a:rPr>
              <a:t>プレイ時間</a:t>
            </a:r>
            <a:endParaRPr lang="en-US" sz="900" dirty="0"/>
          </a:p>
        </p:txBody>
      </p:sp>
      <p:sp>
        <p:nvSpPr>
          <p:cNvPr id="19" name="Text 17"/>
          <p:cNvSpPr/>
          <p:nvPr/>
        </p:nvSpPr>
        <p:spPr>
          <a:xfrm>
            <a:off x="2125980" y="3858768"/>
            <a:ext cx="1783080" cy="512064"/>
          </a:xfrm>
          <a:prstGeom prst="rect">
            <a:avLst/>
          </a:prstGeom>
          <a:noFill/>
          <a:ln/>
        </p:spPr>
        <p:txBody>
          <a:bodyPr wrap="square" rtlCol="0" anchor="t"/>
          <a:lstStyle/>
          <a:p>
            <a:pPr marL="0" indent="0" algn="ctr">
              <a:buNone/>
            </a:pPr>
            <a:r>
              <a:rPr lang="en-US" sz="950" b="1" dirty="0">
                <a:solidFill>
                  <a:srgbClr val="FFFFFF"/>
                </a:solidFill>
              </a:rPr>
              <a:t>無限（1周1〜2h）</a:t>
            </a:r>
            <a:endParaRPr lang="en-US" sz="950" dirty="0"/>
          </a:p>
        </p:txBody>
      </p:sp>
      <p:sp>
        <p:nvSpPr>
          <p:cNvPr id="20" name="Shape 18"/>
          <p:cNvSpPr/>
          <p:nvPr/>
        </p:nvSpPr>
        <p:spPr>
          <a:xfrm>
            <a:off x="3931920" y="3246120"/>
            <a:ext cx="1783080" cy="1234440"/>
          </a:xfrm>
          <a:prstGeom prst="rect">
            <a:avLst/>
          </a:prstGeom>
          <a:solidFill>
            <a:srgbClr val="0D1B2A"/>
          </a:solidFill>
          <a:ln w="12700">
            <a:solidFill>
              <a:srgbClr val="E55039">
                <a:alpha val="38000"/>
              </a:srgbClr>
            </a:solidFill>
            <a:prstDash val="solid"/>
          </a:ln>
        </p:spPr>
        <p:txBody>
          <a:bodyPr/>
          <a:lstStyle/>
          <a:p>
            <a:endParaRPr lang="ja-JP" altLang="en-US" dirty="0"/>
          </a:p>
        </p:txBody>
      </p:sp>
      <p:sp>
        <p:nvSpPr>
          <p:cNvPr id="21" name="Text 19"/>
          <p:cNvSpPr/>
          <p:nvPr/>
        </p:nvSpPr>
        <p:spPr>
          <a:xfrm>
            <a:off x="3931920" y="3282696"/>
            <a:ext cx="1783080" cy="384048"/>
          </a:xfrm>
          <a:prstGeom prst="rect">
            <a:avLst/>
          </a:prstGeom>
          <a:noFill/>
          <a:ln/>
        </p:spPr>
        <p:txBody>
          <a:bodyPr wrap="square" rtlCol="0" anchor="ctr"/>
          <a:lstStyle/>
          <a:p>
            <a:pPr marL="0" indent="0" algn="ctr">
              <a:buNone/>
            </a:pPr>
            <a:r>
              <a:rPr lang="ja-JP" altLang="en-US" sz="1800" dirty="0">
                <a:solidFill>
                  <a:srgbClr val="000000"/>
                </a:solidFill>
              </a:rPr>
              <a:t>💸</a:t>
            </a:r>
            <a:endParaRPr lang="en-US" sz="1800" dirty="0"/>
          </a:p>
        </p:txBody>
      </p:sp>
      <p:sp>
        <p:nvSpPr>
          <p:cNvPr id="22" name="Text 20"/>
          <p:cNvSpPr/>
          <p:nvPr/>
        </p:nvSpPr>
        <p:spPr>
          <a:xfrm>
            <a:off x="3931920" y="3648456"/>
            <a:ext cx="1783080" cy="219456"/>
          </a:xfrm>
          <a:prstGeom prst="rect">
            <a:avLst/>
          </a:prstGeom>
          <a:noFill/>
          <a:ln/>
        </p:spPr>
        <p:txBody>
          <a:bodyPr wrap="square" rtlCol="0" anchor="ctr"/>
          <a:lstStyle/>
          <a:p>
            <a:pPr marL="0" indent="0" algn="ctr">
              <a:buNone/>
            </a:pPr>
            <a:r>
              <a:rPr lang="ja-JP" altLang="en-US" sz="900" dirty="0">
                <a:solidFill>
                  <a:srgbClr val="8892A4"/>
                </a:solidFill>
              </a:rPr>
              <a:t>値段</a:t>
            </a:r>
            <a:endParaRPr lang="en-US" sz="900" dirty="0"/>
          </a:p>
        </p:txBody>
      </p:sp>
      <p:sp>
        <p:nvSpPr>
          <p:cNvPr id="23" name="Text 21"/>
          <p:cNvSpPr/>
          <p:nvPr/>
        </p:nvSpPr>
        <p:spPr>
          <a:xfrm>
            <a:off x="3931920" y="3858768"/>
            <a:ext cx="1783080" cy="512064"/>
          </a:xfrm>
          <a:prstGeom prst="rect">
            <a:avLst/>
          </a:prstGeom>
          <a:noFill/>
          <a:ln/>
        </p:spPr>
        <p:txBody>
          <a:bodyPr wrap="square" rtlCol="0" anchor="t"/>
          <a:lstStyle/>
          <a:p>
            <a:pPr marL="0" indent="0" algn="ctr">
              <a:buNone/>
            </a:pPr>
            <a:endParaRPr lang="en-US" sz="950" dirty="0"/>
          </a:p>
        </p:txBody>
      </p:sp>
      <p:sp>
        <p:nvSpPr>
          <p:cNvPr id="24" name="Text 22"/>
          <p:cNvSpPr/>
          <p:nvPr/>
        </p:nvSpPr>
        <p:spPr>
          <a:xfrm>
            <a:off x="6035040" y="1801368"/>
            <a:ext cx="2880360" cy="256032"/>
          </a:xfrm>
          <a:prstGeom prst="rect">
            <a:avLst/>
          </a:prstGeom>
          <a:noFill/>
          <a:ln/>
        </p:spPr>
        <p:txBody>
          <a:bodyPr wrap="square" rtlCol="0" anchor="ctr"/>
          <a:lstStyle/>
          <a:p>
            <a:pPr marL="0" indent="0">
              <a:buNone/>
            </a:pPr>
            <a:r>
              <a:rPr lang="en-US" sz="1000" b="1" dirty="0">
                <a:solidFill>
                  <a:srgbClr val="8892A4"/>
                </a:solidFill>
              </a:rPr>
              <a:t>タグ</a:t>
            </a:r>
            <a:endParaRPr lang="en-US" sz="1000" dirty="0"/>
          </a:p>
        </p:txBody>
      </p:sp>
      <p:sp>
        <p:nvSpPr>
          <p:cNvPr id="25" name="Shape 23"/>
          <p:cNvSpPr/>
          <p:nvPr/>
        </p:nvSpPr>
        <p:spPr>
          <a:xfrm>
            <a:off x="6035040" y="2057400"/>
            <a:ext cx="2880360" cy="329184"/>
          </a:xfrm>
          <a:prstGeom prst="rect">
            <a:avLst/>
          </a:prstGeom>
          <a:solidFill>
            <a:srgbClr val="E55039">
              <a:alpha val="20000"/>
            </a:srgbClr>
          </a:solidFill>
          <a:ln w="12700">
            <a:solidFill>
              <a:srgbClr val="E55039">
                <a:alpha val="38000"/>
              </a:srgbClr>
            </a:solidFill>
            <a:prstDash val="solid"/>
          </a:ln>
        </p:spPr>
        <p:txBody>
          <a:bodyPr/>
          <a:lstStyle/>
          <a:p>
            <a:endParaRPr lang="ja-JP" altLang="en-US"/>
          </a:p>
        </p:txBody>
      </p:sp>
      <p:sp>
        <p:nvSpPr>
          <p:cNvPr id="26" name="Text 24"/>
          <p:cNvSpPr/>
          <p:nvPr/>
        </p:nvSpPr>
        <p:spPr>
          <a:xfrm>
            <a:off x="6035040" y="2057400"/>
            <a:ext cx="2880360" cy="329184"/>
          </a:xfrm>
          <a:prstGeom prst="rect">
            <a:avLst/>
          </a:prstGeom>
          <a:noFill/>
          <a:ln/>
        </p:spPr>
        <p:txBody>
          <a:bodyPr wrap="square" lIns="0" tIns="0" rIns="0" bIns="0" rtlCol="0" anchor="ctr"/>
          <a:lstStyle/>
          <a:p>
            <a:pPr marL="0" indent="0" algn="ctr">
              <a:buNone/>
            </a:pPr>
            <a:r>
              <a:rPr lang="en-US" sz="1100" b="1" dirty="0">
                <a:solidFill>
                  <a:srgbClr val="E55039"/>
                </a:solidFill>
              </a:rPr>
              <a:t># デッキ構築</a:t>
            </a:r>
            <a:endParaRPr lang="en-US" sz="1100" dirty="0"/>
          </a:p>
        </p:txBody>
      </p:sp>
      <p:sp>
        <p:nvSpPr>
          <p:cNvPr id="27" name="Shape 25"/>
          <p:cNvSpPr/>
          <p:nvPr/>
        </p:nvSpPr>
        <p:spPr>
          <a:xfrm>
            <a:off x="6035040" y="2450592"/>
            <a:ext cx="2880360" cy="329184"/>
          </a:xfrm>
          <a:prstGeom prst="rect">
            <a:avLst/>
          </a:prstGeom>
          <a:solidFill>
            <a:srgbClr val="E55039">
              <a:alpha val="20000"/>
            </a:srgbClr>
          </a:solidFill>
          <a:ln w="12700">
            <a:solidFill>
              <a:srgbClr val="E55039">
                <a:alpha val="38000"/>
              </a:srgbClr>
            </a:solidFill>
            <a:prstDash val="solid"/>
          </a:ln>
        </p:spPr>
        <p:txBody>
          <a:bodyPr/>
          <a:lstStyle/>
          <a:p>
            <a:endParaRPr lang="ja-JP" altLang="en-US"/>
          </a:p>
        </p:txBody>
      </p:sp>
      <p:sp>
        <p:nvSpPr>
          <p:cNvPr id="28" name="Text 26"/>
          <p:cNvSpPr/>
          <p:nvPr/>
        </p:nvSpPr>
        <p:spPr>
          <a:xfrm>
            <a:off x="6035040" y="2450592"/>
            <a:ext cx="2880360" cy="329184"/>
          </a:xfrm>
          <a:prstGeom prst="rect">
            <a:avLst/>
          </a:prstGeom>
          <a:noFill/>
          <a:ln/>
        </p:spPr>
        <p:txBody>
          <a:bodyPr wrap="square" lIns="0" tIns="0" rIns="0" bIns="0" rtlCol="0" anchor="ctr"/>
          <a:lstStyle/>
          <a:p>
            <a:pPr marL="0" indent="0" algn="ctr">
              <a:buNone/>
            </a:pPr>
            <a:r>
              <a:rPr lang="en-US" sz="1100" b="1" dirty="0">
                <a:solidFill>
                  <a:srgbClr val="E55039"/>
                </a:solidFill>
              </a:rPr>
              <a:t># ローグライク</a:t>
            </a:r>
            <a:endParaRPr lang="en-US" sz="1100" dirty="0"/>
          </a:p>
        </p:txBody>
      </p:sp>
      <p:sp>
        <p:nvSpPr>
          <p:cNvPr id="29" name="Shape 27"/>
          <p:cNvSpPr/>
          <p:nvPr/>
        </p:nvSpPr>
        <p:spPr>
          <a:xfrm>
            <a:off x="6035040" y="2843784"/>
            <a:ext cx="2880360" cy="329184"/>
          </a:xfrm>
          <a:prstGeom prst="rect">
            <a:avLst/>
          </a:prstGeom>
          <a:solidFill>
            <a:srgbClr val="E55039">
              <a:alpha val="20000"/>
            </a:srgbClr>
          </a:solidFill>
          <a:ln w="12700">
            <a:solidFill>
              <a:srgbClr val="E55039">
                <a:alpha val="38000"/>
              </a:srgbClr>
            </a:solidFill>
            <a:prstDash val="solid"/>
          </a:ln>
        </p:spPr>
        <p:txBody>
          <a:bodyPr/>
          <a:lstStyle/>
          <a:p>
            <a:endParaRPr lang="ja-JP" altLang="en-US"/>
          </a:p>
        </p:txBody>
      </p:sp>
      <p:sp>
        <p:nvSpPr>
          <p:cNvPr id="30" name="Text 28"/>
          <p:cNvSpPr/>
          <p:nvPr/>
        </p:nvSpPr>
        <p:spPr>
          <a:xfrm>
            <a:off x="6035040" y="2843784"/>
            <a:ext cx="2880360" cy="329184"/>
          </a:xfrm>
          <a:prstGeom prst="rect">
            <a:avLst/>
          </a:prstGeom>
          <a:noFill/>
          <a:ln/>
        </p:spPr>
        <p:txBody>
          <a:bodyPr wrap="square" lIns="0" tIns="0" rIns="0" bIns="0" rtlCol="0" anchor="ctr"/>
          <a:lstStyle/>
          <a:p>
            <a:pPr marL="0" indent="0" algn="ctr">
              <a:buNone/>
            </a:pPr>
            <a:r>
              <a:rPr lang="en-US" sz="1100" b="1" dirty="0">
                <a:solidFill>
                  <a:srgbClr val="E55039"/>
                </a:solidFill>
              </a:rPr>
              <a:t># 中毒性抜群</a:t>
            </a:r>
            <a:endParaRPr lang="en-US" sz="1100" dirty="0"/>
          </a:p>
        </p:txBody>
      </p:sp>
      <p:sp>
        <p:nvSpPr>
          <p:cNvPr id="31" name="Shape 29"/>
          <p:cNvSpPr/>
          <p:nvPr/>
        </p:nvSpPr>
        <p:spPr>
          <a:xfrm>
            <a:off x="0" y="4846320"/>
            <a:ext cx="9144000" cy="297180"/>
          </a:xfrm>
          <a:prstGeom prst="rect">
            <a:avLst/>
          </a:prstGeom>
          <a:solidFill>
            <a:srgbClr val="0A0A14"/>
          </a:solidFill>
          <a:ln w="12700">
            <a:solidFill>
              <a:srgbClr val="0A0A14"/>
            </a:solidFill>
            <a:prstDash val="solid"/>
          </a:ln>
        </p:spPr>
        <p:txBody>
          <a:bodyPr/>
          <a:lstStyle/>
          <a:p>
            <a:endParaRPr lang="ja-JP" altLang="en-US"/>
          </a:p>
        </p:txBody>
      </p:sp>
      <p:sp>
        <p:nvSpPr>
          <p:cNvPr id="32" name="Shape 30"/>
          <p:cNvSpPr/>
          <p:nvPr/>
        </p:nvSpPr>
        <p:spPr>
          <a:xfrm>
            <a:off x="4023360" y="4960620"/>
            <a:ext cx="109728" cy="109728"/>
          </a:xfrm>
          <a:prstGeom prst="ellipse">
            <a:avLst/>
          </a:prstGeom>
          <a:solidFill>
            <a:srgbClr val="E55039"/>
          </a:solidFill>
          <a:ln w="12700">
            <a:solidFill>
              <a:srgbClr val="E55039"/>
            </a:solidFill>
            <a:prstDash val="solid"/>
          </a:ln>
        </p:spPr>
        <p:txBody>
          <a:bodyPr/>
          <a:lstStyle/>
          <a:p>
            <a:endParaRPr lang="ja-JP" altLang="en-US"/>
          </a:p>
        </p:txBody>
      </p:sp>
      <p:sp>
        <p:nvSpPr>
          <p:cNvPr id="33" name="Shape 31"/>
          <p:cNvSpPr/>
          <p:nvPr/>
        </p:nvSpPr>
        <p:spPr>
          <a:xfrm>
            <a:off x="4224528" y="4960620"/>
            <a:ext cx="109728" cy="109728"/>
          </a:xfrm>
          <a:prstGeom prst="ellipse">
            <a:avLst/>
          </a:prstGeom>
          <a:solidFill>
            <a:srgbClr val="3D4450"/>
          </a:solidFill>
          <a:ln w="12700">
            <a:solidFill>
              <a:srgbClr val="3D4450"/>
            </a:solidFill>
            <a:prstDash val="solid"/>
          </a:ln>
        </p:spPr>
        <p:txBody>
          <a:bodyPr/>
          <a:lstStyle/>
          <a:p>
            <a:endParaRPr lang="ja-JP" altLang="en-US"/>
          </a:p>
        </p:txBody>
      </p:sp>
      <p:sp>
        <p:nvSpPr>
          <p:cNvPr id="34" name="Shape 32"/>
          <p:cNvSpPr/>
          <p:nvPr/>
        </p:nvSpPr>
        <p:spPr>
          <a:xfrm>
            <a:off x="4425696" y="4960620"/>
            <a:ext cx="109728" cy="109728"/>
          </a:xfrm>
          <a:prstGeom prst="ellipse">
            <a:avLst/>
          </a:prstGeom>
          <a:solidFill>
            <a:srgbClr val="3D4450"/>
          </a:solidFill>
          <a:ln w="12700">
            <a:solidFill>
              <a:srgbClr val="3D4450"/>
            </a:solidFill>
            <a:prstDash val="solid"/>
          </a:ln>
        </p:spPr>
        <p:txBody>
          <a:bodyPr/>
          <a:lstStyle/>
          <a:p>
            <a:endParaRPr lang="ja-JP" altLang="en-US"/>
          </a:p>
        </p:txBody>
      </p:sp>
      <p:sp>
        <p:nvSpPr>
          <p:cNvPr id="35" name="Shape 33"/>
          <p:cNvSpPr/>
          <p:nvPr/>
        </p:nvSpPr>
        <p:spPr>
          <a:xfrm>
            <a:off x="4626864" y="4960620"/>
            <a:ext cx="109728" cy="109728"/>
          </a:xfrm>
          <a:prstGeom prst="ellipse">
            <a:avLst/>
          </a:prstGeom>
          <a:solidFill>
            <a:srgbClr val="3D4450"/>
          </a:solidFill>
          <a:ln w="12700">
            <a:solidFill>
              <a:srgbClr val="3D4450"/>
            </a:solidFill>
            <a:prstDash val="solid"/>
          </a:ln>
        </p:spPr>
        <p:txBody>
          <a:bodyPr/>
          <a:lstStyle/>
          <a:p>
            <a:endParaRPr lang="ja-JP" altLang="en-US"/>
          </a:p>
        </p:txBody>
      </p:sp>
      <p:sp>
        <p:nvSpPr>
          <p:cNvPr id="36" name="Shape 34"/>
          <p:cNvSpPr/>
          <p:nvPr/>
        </p:nvSpPr>
        <p:spPr>
          <a:xfrm>
            <a:off x="4828032" y="4960620"/>
            <a:ext cx="109728" cy="109728"/>
          </a:xfrm>
          <a:prstGeom prst="ellipse">
            <a:avLst/>
          </a:prstGeom>
          <a:solidFill>
            <a:srgbClr val="3D4450"/>
          </a:solidFill>
          <a:ln w="12700">
            <a:solidFill>
              <a:srgbClr val="3D4450"/>
            </a:solidFill>
            <a:prstDash val="solid"/>
          </a:ln>
        </p:spPr>
        <p:txBody>
          <a:bodyPr/>
          <a:lstStyle/>
          <a:p>
            <a:endParaRPr lang="ja-JP" altLang="en-US"/>
          </a:p>
        </p:txBody>
      </p:sp>
      <p:sp>
        <p:nvSpPr>
          <p:cNvPr id="37" name="Shape 35"/>
          <p:cNvSpPr/>
          <p:nvPr/>
        </p:nvSpPr>
        <p:spPr>
          <a:xfrm>
            <a:off x="5029200" y="4960620"/>
            <a:ext cx="109728" cy="109728"/>
          </a:xfrm>
          <a:prstGeom prst="ellipse">
            <a:avLst/>
          </a:prstGeom>
          <a:solidFill>
            <a:srgbClr val="3D4450"/>
          </a:solidFill>
          <a:ln w="12700">
            <a:solidFill>
              <a:srgbClr val="3D4450"/>
            </a:solidFill>
            <a:prstDash val="solid"/>
          </a:ln>
        </p:spPr>
        <p:txBody>
          <a:bodyPr/>
          <a:lstStyle/>
          <a:p>
            <a:endParaRPr lang="ja-JP" altLang="en-US"/>
          </a:p>
        </p:txBody>
      </p:sp>
      <p:sp>
        <p:nvSpPr>
          <p:cNvPr id="38" name="Text 36"/>
          <p:cNvSpPr/>
          <p:nvPr/>
        </p:nvSpPr>
        <p:spPr>
          <a:xfrm>
            <a:off x="7772400" y="4846320"/>
            <a:ext cx="1188720" cy="297180"/>
          </a:xfrm>
          <a:prstGeom prst="rect">
            <a:avLst/>
          </a:prstGeom>
          <a:noFill/>
          <a:ln/>
        </p:spPr>
        <p:txBody>
          <a:bodyPr wrap="square" rtlCol="0" anchor="ctr"/>
          <a:lstStyle/>
          <a:p>
            <a:pPr marL="0" indent="0" algn="ctr">
              <a:buNone/>
            </a:pPr>
            <a:r>
              <a:rPr lang="en-US" sz="1000" dirty="0">
                <a:solidFill>
                  <a:srgbClr val="8892A4"/>
                </a:solidFill>
              </a:rPr>
              <a:t>1 / 6</a:t>
            </a:r>
            <a:endParaRPr lang="en-US" sz="1000" dirty="0"/>
          </a:p>
        </p:txBody>
      </p:sp>
      <p:pic>
        <p:nvPicPr>
          <p:cNvPr id="40" name="図 39">
            <a:extLst>
              <a:ext uri="{FF2B5EF4-FFF2-40B4-BE49-F238E27FC236}">
                <a16:creationId xmlns:a16="http://schemas.microsoft.com/office/drawing/2014/main" id="{28714AD9-A89B-BC80-D977-D6212095A9C9}"/>
              </a:ext>
            </a:extLst>
          </p:cNvPr>
          <p:cNvPicPr>
            <a:picLocks noChangeAspect="1"/>
          </p:cNvPicPr>
          <p:nvPr/>
        </p:nvPicPr>
        <p:blipFill>
          <a:blip r:embed="rId3"/>
          <a:stretch>
            <a:fillRect/>
          </a:stretch>
        </p:blipFill>
        <p:spPr>
          <a:xfrm>
            <a:off x="3802575" y="0"/>
            <a:ext cx="4601896" cy="1706145"/>
          </a:xfrm>
          <a:prstGeom prst="rect">
            <a:avLst/>
          </a:prstGeom>
        </p:spPr>
      </p:pic>
      <p:sp>
        <p:nvSpPr>
          <p:cNvPr id="41" name="Text 17">
            <a:extLst>
              <a:ext uri="{FF2B5EF4-FFF2-40B4-BE49-F238E27FC236}">
                <a16:creationId xmlns:a16="http://schemas.microsoft.com/office/drawing/2014/main" id="{274C212D-956F-6724-7A19-A53DF7EBCB59}"/>
              </a:ext>
            </a:extLst>
          </p:cNvPr>
          <p:cNvSpPr/>
          <p:nvPr/>
        </p:nvSpPr>
        <p:spPr>
          <a:xfrm>
            <a:off x="3954780" y="3858768"/>
            <a:ext cx="1783080" cy="512064"/>
          </a:xfrm>
          <a:prstGeom prst="rect">
            <a:avLst/>
          </a:prstGeom>
          <a:noFill/>
          <a:ln/>
        </p:spPr>
        <p:txBody>
          <a:bodyPr wrap="square" rtlCol="0" anchor="t"/>
          <a:lstStyle/>
          <a:p>
            <a:pPr marL="0" indent="0" algn="ctr">
              <a:buNone/>
            </a:pPr>
            <a:r>
              <a:rPr lang="ja-JP" altLang="en-US" sz="950" b="1" dirty="0">
                <a:solidFill>
                  <a:srgbClr val="FFFFFF"/>
                </a:solidFill>
              </a:rPr>
              <a:t>１０００～３０００円</a:t>
            </a:r>
            <a:endParaRPr lang="en-US" sz="9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F0E17"/>
        </a:solidFill>
        <a:effectLst/>
      </p:bgPr>
    </p:bg>
    <p:spTree>
      <p:nvGrpSpPr>
        <p:cNvPr id="1" name=""/>
        <p:cNvGrpSpPr/>
        <p:nvPr/>
      </p:nvGrpSpPr>
      <p:grpSpPr>
        <a:xfrm>
          <a:off x="0" y="0"/>
          <a:ext cx="0" cy="0"/>
          <a:chOff x="0" y="0"/>
          <a:chExt cx="0" cy="0"/>
        </a:xfrm>
      </p:grpSpPr>
      <p:sp>
        <p:nvSpPr>
          <p:cNvPr id="2" name="Shape 0"/>
          <p:cNvSpPr/>
          <p:nvPr/>
        </p:nvSpPr>
        <p:spPr>
          <a:xfrm>
            <a:off x="4572000" y="-1828800"/>
            <a:ext cx="7315200" cy="7315200"/>
          </a:xfrm>
          <a:prstGeom prst="ellipse">
            <a:avLst/>
          </a:prstGeom>
          <a:solidFill>
            <a:srgbClr val="6C3483">
              <a:alpha val="8000"/>
            </a:srgbClr>
          </a:solidFill>
          <a:ln w="12700">
            <a:solidFill>
              <a:srgbClr val="6C3483">
                <a:alpha val="8000"/>
              </a:srgbClr>
            </a:solidFill>
            <a:prstDash val="solid"/>
          </a:ln>
        </p:spPr>
        <p:txBody>
          <a:bodyPr/>
          <a:lstStyle/>
          <a:p>
            <a:endParaRPr lang="ja-JP" altLang="en-US"/>
          </a:p>
        </p:txBody>
      </p:sp>
      <p:sp>
        <p:nvSpPr>
          <p:cNvPr id="3" name="Shape 1"/>
          <p:cNvSpPr/>
          <p:nvPr/>
        </p:nvSpPr>
        <p:spPr>
          <a:xfrm>
            <a:off x="0" y="0"/>
            <a:ext cx="164592" cy="5143500"/>
          </a:xfrm>
          <a:prstGeom prst="rect">
            <a:avLst/>
          </a:prstGeom>
          <a:solidFill>
            <a:srgbClr val="6C3483"/>
          </a:solidFill>
          <a:ln w="12700">
            <a:solidFill>
              <a:srgbClr val="6C3483"/>
            </a:solidFill>
            <a:prstDash val="solid"/>
          </a:ln>
        </p:spPr>
        <p:txBody>
          <a:bodyPr/>
          <a:lstStyle/>
          <a:p>
            <a:endParaRPr lang="ja-JP" altLang="en-US"/>
          </a:p>
        </p:txBody>
      </p:sp>
      <p:sp>
        <p:nvSpPr>
          <p:cNvPr id="4" name="Shape 2"/>
          <p:cNvSpPr/>
          <p:nvPr/>
        </p:nvSpPr>
        <p:spPr>
          <a:xfrm>
            <a:off x="320040" y="256032"/>
            <a:ext cx="658368" cy="658368"/>
          </a:xfrm>
          <a:prstGeom prst="rect">
            <a:avLst/>
          </a:prstGeom>
          <a:solidFill>
            <a:srgbClr val="6C3483"/>
          </a:solidFill>
          <a:ln w="12700">
            <a:solidFill>
              <a:srgbClr val="6C3483"/>
            </a:solidFill>
            <a:prstDash val="solid"/>
          </a:ln>
        </p:spPr>
        <p:txBody>
          <a:bodyPr/>
          <a:lstStyle/>
          <a:p>
            <a:endParaRPr lang="ja-JP" altLang="en-US"/>
          </a:p>
        </p:txBody>
      </p:sp>
      <p:sp>
        <p:nvSpPr>
          <p:cNvPr id="5" name="Text 3"/>
          <p:cNvSpPr/>
          <p:nvPr/>
        </p:nvSpPr>
        <p:spPr>
          <a:xfrm>
            <a:off x="320040" y="256032"/>
            <a:ext cx="658368" cy="658368"/>
          </a:xfrm>
          <a:prstGeom prst="rect">
            <a:avLst/>
          </a:prstGeom>
          <a:noFill/>
          <a:ln/>
        </p:spPr>
        <p:txBody>
          <a:bodyPr wrap="square" lIns="0" tIns="0" rIns="0" bIns="0" rtlCol="0" anchor="ctr"/>
          <a:lstStyle/>
          <a:p>
            <a:pPr marL="0" indent="0" algn="ctr">
              <a:buNone/>
            </a:pPr>
            <a:r>
              <a:rPr lang="en-US" sz="2200" b="1" dirty="0">
                <a:solidFill>
                  <a:srgbClr val="0F0E17"/>
                </a:solidFill>
                <a:latin typeface="Arial Black" pitchFamily="34" charset="0"/>
                <a:ea typeface="Arial Black" pitchFamily="34" charset="-122"/>
                <a:cs typeface="Arial Black" pitchFamily="34" charset="-120"/>
              </a:rPr>
              <a:t>2</a:t>
            </a:r>
            <a:endParaRPr lang="en-US" sz="2200" dirty="0"/>
          </a:p>
        </p:txBody>
      </p:sp>
      <p:sp>
        <p:nvSpPr>
          <p:cNvPr id="6" name="Shape 4"/>
          <p:cNvSpPr/>
          <p:nvPr/>
        </p:nvSpPr>
        <p:spPr>
          <a:xfrm>
            <a:off x="1115568" y="301752"/>
            <a:ext cx="2377440" cy="347472"/>
          </a:xfrm>
          <a:prstGeom prst="roundRect">
            <a:avLst>
              <a:gd name="adj" fmla="val 21053"/>
            </a:avLst>
          </a:prstGeom>
          <a:solidFill>
            <a:srgbClr val="6C3483">
              <a:alpha val="25000"/>
            </a:srgbClr>
          </a:solidFill>
          <a:ln w="12700">
            <a:solidFill>
              <a:srgbClr val="6C3483">
                <a:alpha val="55000"/>
              </a:srgbClr>
            </a:solidFill>
            <a:prstDash val="solid"/>
          </a:ln>
        </p:spPr>
        <p:txBody>
          <a:bodyPr/>
          <a:lstStyle/>
          <a:p>
            <a:endParaRPr lang="ja-JP" altLang="en-US"/>
          </a:p>
        </p:txBody>
      </p:sp>
      <p:sp>
        <p:nvSpPr>
          <p:cNvPr id="7" name="Text 5"/>
          <p:cNvSpPr/>
          <p:nvPr/>
        </p:nvSpPr>
        <p:spPr>
          <a:xfrm>
            <a:off x="1115568" y="301752"/>
            <a:ext cx="2377440" cy="347472"/>
          </a:xfrm>
          <a:prstGeom prst="rect">
            <a:avLst/>
          </a:prstGeom>
          <a:noFill/>
          <a:ln/>
        </p:spPr>
        <p:txBody>
          <a:bodyPr wrap="square" lIns="0" tIns="0" rIns="0" bIns="0" rtlCol="0" anchor="ctr"/>
          <a:lstStyle/>
          <a:p>
            <a:pPr marL="0" indent="0" algn="ctr">
              <a:buNone/>
            </a:pPr>
            <a:r>
              <a:rPr lang="en-US" sz="1100" b="1" dirty="0">
                <a:solidFill>
                  <a:srgbClr val="6C3483"/>
                </a:solidFill>
              </a:rPr>
              <a:t>デッキ構築・ホラー謎解き</a:t>
            </a:r>
            <a:endParaRPr lang="en-US" sz="1100" dirty="0"/>
          </a:p>
        </p:txBody>
      </p:sp>
      <p:sp>
        <p:nvSpPr>
          <p:cNvPr id="8" name="Text 6"/>
          <p:cNvSpPr/>
          <p:nvPr/>
        </p:nvSpPr>
        <p:spPr>
          <a:xfrm>
            <a:off x="7132320" y="137160"/>
            <a:ext cx="1737360" cy="1737360"/>
          </a:xfrm>
          <a:prstGeom prst="rect">
            <a:avLst/>
          </a:prstGeom>
          <a:noFill/>
          <a:ln/>
        </p:spPr>
        <p:txBody>
          <a:bodyPr wrap="square" rtlCol="0" anchor="ctr"/>
          <a:lstStyle/>
          <a:p>
            <a:pPr marL="0" indent="0" algn="ctr">
              <a:buNone/>
            </a:pPr>
            <a:r>
              <a:rPr lang="en-US" sz="7200" dirty="0">
                <a:solidFill>
                  <a:srgbClr val="000000"/>
                </a:solidFill>
              </a:rPr>
              <a:t>🎴</a:t>
            </a:r>
            <a:endParaRPr lang="en-US" sz="7200" dirty="0"/>
          </a:p>
        </p:txBody>
      </p:sp>
      <p:sp>
        <p:nvSpPr>
          <p:cNvPr id="9" name="Text 7"/>
          <p:cNvSpPr/>
          <p:nvPr/>
        </p:nvSpPr>
        <p:spPr>
          <a:xfrm>
            <a:off x="320040" y="804672"/>
            <a:ext cx="6583680" cy="868680"/>
          </a:xfrm>
          <a:prstGeom prst="rect">
            <a:avLst/>
          </a:prstGeom>
          <a:noFill/>
          <a:ln/>
        </p:spPr>
        <p:txBody>
          <a:bodyPr wrap="square" rtlCol="0" anchor="ctr"/>
          <a:lstStyle/>
          <a:p>
            <a:pPr marL="0" indent="0">
              <a:buNone/>
            </a:pPr>
            <a:r>
              <a:rPr lang="en-US" sz="3600" b="1" dirty="0">
                <a:solidFill>
                  <a:srgbClr val="FFFFFF"/>
                </a:solidFill>
                <a:latin typeface="Arial Black" pitchFamily="34" charset="0"/>
                <a:ea typeface="Arial Black" pitchFamily="34" charset="-122"/>
                <a:cs typeface="Arial Black" pitchFamily="34" charset="-120"/>
              </a:rPr>
              <a:t>Inscryption</a:t>
            </a:r>
            <a:endParaRPr lang="en-US" sz="3600" dirty="0"/>
          </a:p>
        </p:txBody>
      </p:sp>
      <p:sp>
        <p:nvSpPr>
          <p:cNvPr id="10" name="Shape 8"/>
          <p:cNvSpPr/>
          <p:nvPr/>
        </p:nvSpPr>
        <p:spPr>
          <a:xfrm>
            <a:off x="320040" y="1755648"/>
            <a:ext cx="5577840" cy="1371600"/>
          </a:xfrm>
          <a:prstGeom prst="rect">
            <a:avLst/>
          </a:prstGeom>
          <a:solidFill>
            <a:srgbClr val="16213E"/>
          </a:solidFill>
          <a:ln w="12700">
            <a:solidFill>
              <a:srgbClr val="6C3483">
                <a:alpha val="32000"/>
              </a:srgbClr>
            </a:solidFill>
            <a:prstDash val="solid"/>
          </a:ln>
        </p:spPr>
        <p:txBody>
          <a:bodyPr/>
          <a:lstStyle/>
          <a:p>
            <a:endParaRPr lang="ja-JP" altLang="en-US"/>
          </a:p>
        </p:txBody>
      </p:sp>
      <p:sp>
        <p:nvSpPr>
          <p:cNvPr id="11" name="Text 9"/>
          <p:cNvSpPr/>
          <p:nvPr/>
        </p:nvSpPr>
        <p:spPr>
          <a:xfrm>
            <a:off x="502920" y="1801368"/>
            <a:ext cx="5212080" cy="1280160"/>
          </a:xfrm>
          <a:prstGeom prst="rect">
            <a:avLst/>
          </a:prstGeom>
          <a:noFill/>
          <a:ln/>
        </p:spPr>
        <p:txBody>
          <a:bodyPr wrap="square" rtlCol="0" anchor="ctr"/>
          <a:lstStyle/>
          <a:p>
            <a:pPr marL="0" indent="0">
              <a:buNone/>
            </a:pPr>
            <a:r>
              <a:rPr lang="ja-JP" altLang="en-US" sz="1300" dirty="0">
                <a:solidFill>
                  <a:srgbClr val="D1D5DB"/>
                </a:solidFill>
              </a:rPr>
              <a:t>同じくデッキ構築をしながら進めていく</a:t>
            </a:r>
            <a:r>
              <a:rPr lang="en-US" sz="1300" dirty="0" err="1">
                <a:solidFill>
                  <a:srgbClr val="D1D5DB"/>
                </a:solidFill>
              </a:rPr>
              <a:t>カードゲーム</a:t>
            </a:r>
            <a:r>
              <a:rPr lang="en-US" sz="1300" dirty="0">
                <a:solidFill>
                  <a:srgbClr val="D1D5DB"/>
                </a:solidFill>
              </a:rPr>
              <a:t>…</a:t>
            </a:r>
            <a:r>
              <a:rPr lang="en-US" sz="1300" dirty="0" err="1">
                <a:solidFill>
                  <a:srgbClr val="D1D5DB"/>
                </a:solidFill>
              </a:rPr>
              <a:t>と思いきや</a:t>
            </a:r>
            <a:r>
              <a:rPr lang="en-US" sz="1300" dirty="0">
                <a:solidFill>
                  <a:srgbClr val="D1D5DB"/>
                </a:solidFill>
              </a:rPr>
              <a:t>、</a:t>
            </a:r>
          </a:p>
          <a:p>
            <a:pPr marL="0" indent="0">
              <a:buNone/>
            </a:pPr>
            <a:r>
              <a:rPr lang="ja-JP" altLang="en-US" sz="1300" dirty="0">
                <a:solidFill>
                  <a:srgbClr val="D1D5DB"/>
                </a:solidFill>
              </a:rPr>
              <a:t>なんだか様子がおかしくなってくる</a:t>
            </a:r>
            <a:r>
              <a:rPr lang="en-US" sz="1300" dirty="0" err="1">
                <a:solidFill>
                  <a:srgbClr val="D1D5DB"/>
                </a:solidFill>
              </a:rPr>
              <a:t>ホラー謎解き</a:t>
            </a:r>
            <a:r>
              <a:rPr lang="ja-JP" altLang="en-US" sz="1300" dirty="0">
                <a:solidFill>
                  <a:srgbClr val="D1D5DB"/>
                </a:solidFill>
              </a:rPr>
              <a:t>脱出ゲーム</a:t>
            </a:r>
            <a:r>
              <a:rPr lang="en-US" sz="1300" dirty="0">
                <a:solidFill>
                  <a:srgbClr val="D1D5DB"/>
                </a:solidFill>
              </a:rPr>
              <a:t>。</a:t>
            </a:r>
          </a:p>
          <a:p>
            <a:pPr marL="0" indent="0">
              <a:buNone/>
            </a:pPr>
            <a:r>
              <a:rPr lang="en-US" sz="1300" dirty="0" err="1">
                <a:solidFill>
                  <a:srgbClr val="D1D5DB"/>
                </a:solidFill>
              </a:rPr>
              <a:t>ネタバレ厳禁</a:t>
            </a:r>
            <a:r>
              <a:rPr lang="en-US" sz="1300" dirty="0">
                <a:solidFill>
                  <a:srgbClr val="D1D5DB"/>
                </a:solidFill>
              </a:rPr>
              <a:t>。</a:t>
            </a:r>
          </a:p>
          <a:p>
            <a:pPr marL="0" indent="0">
              <a:buNone/>
            </a:pPr>
            <a:r>
              <a:rPr lang="ja-JP" altLang="en-US" sz="1300" dirty="0">
                <a:solidFill>
                  <a:srgbClr val="D1D5DB"/>
                </a:solidFill>
              </a:rPr>
              <a:t>一日で走り抜けても良いし、時間をかけて超高難度なエンドコンテンツの制覇に取り組んでも良い</a:t>
            </a:r>
            <a:r>
              <a:rPr lang="en-US" sz="1300" dirty="0">
                <a:solidFill>
                  <a:srgbClr val="D1D5DB"/>
                </a:solidFill>
              </a:rPr>
              <a:t>。</a:t>
            </a:r>
            <a:endParaRPr lang="en-US" sz="1300" dirty="0"/>
          </a:p>
        </p:txBody>
      </p:sp>
      <p:sp>
        <p:nvSpPr>
          <p:cNvPr id="12" name="Shape 10"/>
          <p:cNvSpPr/>
          <p:nvPr/>
        </p:nvSpPr>
        <p:spPr>
          <a:xfrm>
            <a:off x="320040" y="3246120"/>
            <a:ext cx="1783080" cy="1234440"/>
          </a:xfrm>
          <a:prstGeom prst="rect">
            <a:avLst/>
          </a:prstGeom>
          <a:solidFill>
            <a:srgbClr val="0D1B2A"/>
          </a:solidFill>
          <a:ln w="12700">
            <a:solidFill>
              <a:srgbClr val="6C3483">
                <a:alpha val="38000"/>
              </a:srgbClr>
            </a:solidFill>
            <a:prstDash val="solid"/>
          </a:ln>
        </p:spPr>
        <p:txBody>
          <a:bodyPr/>
          <a:lstStyle/>
          <a:p>
            <a:endParaRPr lang="ja-JP" altLang="en-US"/>
          </a:p>
        </p:txBody>
      </p:sp>
      <p:sp>
        <p:nvSpPr>
          <p:cNvPr id="13" name="Text 11"/>
          <p:cNvSpPr/>
          <p:nvPr/>
        </p:nvSpPr>
        <p:spPr>
          <a:xfrm>
            <a:off x="320040" y="3282696"/>
            <a:ext cx="1783080" cy="384048"/>
          </a:xfrm>
          <a:prstGeom prst="rect">
            <a:avLst/>
          </a:prstGeom>
          <a:noFill/>
          <a:ln/>
        </p:spPr>
        <p:txBody>
          <a:bodyPr wrap="square" rtlCol="0" anchor="ctr"/>
          <a:lstStyle/>
          <a:p>
            <a:pPr marL="0" indent="0" algn="ctr">
              <a:buNone/>
            </a:pPr>
            <a:r>
              <a:rPr lang="en-US" sz="1800" dirty="0">
                <a:solidFill>
                  <a:srgbClr val="000000"/>
                </a:solidFill>
              </a:rPr>
              <a:t>🎮</a:t>
            </a:r>
            <a:endParaRPr lang="en-US" sz="1800" dirty="0"/>
          </a:p>
        </p:txBody>
      </p:sp>
      <p:sp>
        <p:nvSpPr>
          <p:cNvPr id="14" name="Text 12"/>
          <p:cNvSpPr/>
          <p:nvPr/>
        </p:nvSpPr>
        <p:spPr>
          <a:xfrm>
            <a:off x="320040" y="3648456"/>
            <a:ext cx="1783080" cy="219456"/>
          </a:xfrm>
          <a:prstGeom prst="rect">
            <a:avLst/>
          </a:prstGeom>
          <a:noFill/>
          <a:ln/>
        </p:spPr>
        <p:txBody>
          <a:bodyPr wrap="square" rtlCol="0" anchor="ctr"/>
          <a:lstStyle/>
          <a:p>
            <a:pPr marL="0" indent="0" algn="ctr">
              <a:buNone/>
            </a:pPr>
            <a:r>
              <a:rPr lang="en-US" sz="900" dirty="0">
                <a:solidFill>
                  <a:srgbClr val="8892A4"/>
                </a:solidFill>
              </a:rPr>
              <a:t>プラットフォーム</a:t>
            </a:r>
            <a:endParaRPr lang="en-US" sz="900" dirty="0"/>
          </a:p>
        </p:txBody>
      </p:sp>
      <p:sp>
        <p:nvSpPr>
          <p:cNvPr id="15" name="Text 13"/>
          <p:cNvSpPr/>
          <p:nvPr/>
        </p:nvSpPr>
        <p:spPr>
          <a:xfrm>
            <a:off x="320040" y="3858768"/>
            <a:ext cx="1783080" cy="512064"/>
          </a:xfrm>
          <a:prstGeom prst="rect">
            <a:avLst/>
          </a:prstGeom>
          <a:noFill/>
          <a:ln/>
        </p:spPr>
        <p:txBody>
          <a:bodyPr wrap="square" rtlCol="0" anchor="t"/>
          <a:lstStyle/>
          <a:p>
            <a:pPr marL="0" indent="0" algn="ctr">
              <a:buNone/>
            </a:pPr>
            <a:r>
              <a:rPr lang="en-US" sz="950" b="1" dirty="0">
                <a:solidFill>
                  <a:srgbClr val="FFFFFF"/>
                </a:solidFill>
              </a:rPr>
              <a:t>PC / PS4・5</a:t>
            </a:r>
            <a:endParaRPr lang="en-US" sz="950" dirty="0"/>
          </a:p>
        </p:txBody>
      </p:sp>
      <p:sp>
        <p:nvSpPr>
          <p:cNvPr id="16" name="Shape 14"/>
          <p:cNvSpPr/>
          <p:nvPr/>
        </p:nvSpPr>
        <p:spPr>
          <a:xfrm>
            <a:off x="2125980" y="3246120"/>
            <a:ext cx="1783080" cy="1234440"/>
          </a:xfrm>
          <a:prstGeom prst="rect">
            <a:avLst/>
          </a:prstGeom>
          <a:solidFill>
            <a:srgbClr val="0D1B2A"/>
          </a:solidFill>
          <a:ln w="12700">
            <a:solidFill>
              <a:srgbClr val="6C3483">
                <a:alpha val="38000"/>
              </a:srgbClr>
            </a:solidFill>
            <a:prstDash val="solid"/>
          </a:ln>
        </p:spPr>
        <p:txBody>
          <a:bodyPr/>
          <a:lstStyle/>
          <a:p>
            <a:endParaRPr lang="ja-JP" altLang="en-US"/>
          </a:p>
        </p:txBody>
      </p:sp>
      <p:sp>
        <p:nvSpPr>
          <p:cNvPr id="17" name="Text 15"/>
          <p:cNvSpPr/>
          <p:nvPr/>
        </p:nvSpPr>
        <p:spPr>
          <a:xfrm>
            <a:off x="2125980" y="3282696"/>
            <a:ext cx="1783080" cy="384048"/>
          </a:xfrm>
          <a:prstGeom prst="rect">
            <a:avLst/>
          </a:prstGeom>
          <a:noFill/>
          <a:ln/>
        </p:spPr>
        <p:txBody>
          <a:bodyPr wrap="square" rtlCol="0" anchor="ctr"/>
          <a:lstStyle/>
          <a:p>
            <a:pPr marL="0" indent="0" algn="ctr">
              <a:buNone/>
            </a:pPr>
            <a:r>
              <a:rPr lang="en-US" sz="1800" dirty="0">
                <a:solidFill>
                  <a:srgbClr val="000000"/>
                </a:solidFill>
              </a:rPr>
              <a:t>⏱</a:t>
            </a:r>
            <a:endParaRPr lang="en-US" sz="1800" dirty="0"/>
          </a:p>
        </p:txBody>
      </p:sp>
      <p:sp>
        <p:nvSpPr>
          <p:cNvPr id="18" name="Text 16"/>
          <p:cNvSpPr/>
          <p:nvPr/>
        </p:nvSpPr>
        <p:spPr>
          <a:xfrm>
            <a:off x="2125980" y="3648456"/>
            <a:ext cx="1783080" cy="219456"/>
          </a:xfrm>
          <a:prstGeom prst="rect">
            <a:avLst/>
          </a:prstGeom>
          <a:noFill/>
          <a:ln/>
        </p:spPr>
        <p:txBody>
          <a:bodyPr wrap="square" rtlCol="0" anchor="ctr"/>
          <a:lstStyle/>
          <a:p>
            <a:pPr marL="0" indent="0" algn="ctr">
              <a:buNone/>
            </a:pPr>
            <a:r>
              <a:rPr lang="en-US" sz="900" dirty="0">
                <a:solidFill>
                  <a:srgbClr val="8892A4"/>
                </a:solidFill>
              </a:rPr>
              <a:t>プレイ時間</a:t>
            </a:r>
            <a:endParaRPr lang="en-US" sz="900" dirty="0"/>
          </a:p>
        </p:txBody>
      </p:sp>
      <p:sp>
        <p:nvSpPr>
          <p:cNvPr id="19" name="Text 17"/>
          <p:cNvSpPr/>
          <p:nvPr/>
        </p:nvSpPr>
        <p:spPr>
          <a:xfrm>
            <a:off x="2125980" y="3858768"/>
            <a:ext cx="1783080" cy="512064"/>
          </a:xfrm>
          <a:prstGeom prst="rect">
            <a:avLst/>
          </a:prstGeom>
          <a:noFill/>
          <a:ln/>
        </p:spPr>
        <p:txBody>
          <a:bodyPr wrap="square" rtlCol="0" anchor="t"/>
          <a:lstStyle/>
          <a:p>
            <a:pPr marL="0" indent="0" algn="ctr">
              <a:buNone/>
            </a:pPr>
            <a:r>
              <a:rPr lang="en-US" sz="950" b="1" dirty="0">
                <a:solidFill>
                  <a:srgbClr val="FFFFFF"/>
                </a:solidFill>
              </a:rPr>
              <a:t>約10〜</a:t>
            </a:r>
            <a:r>
              <a:rPr lang="ja-JP" altLang="en-US" sz="950" b="1" dirty="0">
                <a:solidFill>
                  <a:srgbClr val="FFFFFF"/>
                </a:solidFill>
              </a:rPr>
              <a:t>４０</a:t>
            </a:r>
            <a:r>
              <a:rPr lang="en-US" sz="950" b="1" dirty="0" err="1">
                <a:solidFill>
                  <a:srgbClr val="FFFFFF"/>
                </a:solidFill>
              </a:rPr>
              <a:t>時間</a:t>
            </a:r>
            <a:endParaRPr lang="en-US" sz="950" dirty="0"/>
          </a:p>
        </p:txBody>
      </p:sp>
      <p:sp>
        <p:nvSpPr>
          <p:cNvPr id="20" name="Shape 18"/>
          <p:cNvSpPr/>
          <p:nvPr/>
        </p:nvSpPr>
        <p:spPr>
          <a:xfrm>
            <a:off x="3931920" y="3246120"/>
            <a:ext cx="1783080" cy="1234440"/>
          </a:xfrm>
          <a:prstGeom prst="rect">
            <a:avLst/>
          </a:prstGeom>
          <a:solidFill>
            <a:srgbClr val="0D1B2A"/>
          </a:solidFill>
          <a:ln w="12700">
            <a:solidFill>
              <a:srgbClr val="6C3483">
                <a:alpha val="38000"/>
              </a:srgbClr>
            </a:solidFill>
            <a:prstDash val="solid"/>
          </a:ln>
        </p:spPr>
        <p:txBody>
          <a:bodyPr/>
          <a:lstStyle/>
          <a:p>
            <a:endParaRPr lang="ja-JP" altLang="en-US"/>
          </a:p>
        </p:txBody>
      </p:sp>
      <p:sp>
        <p:nvSpPr>
          <p:cNvPr id="21" name="Text 19"/>
          <p:cNvSpPr/>
          <p:nvPr/>
        </p:nvSpPr>
        <p:spPr>
          <a:xfrm>
            <a:off x="3931920" y="3282696"/>
            <a:ext cx="1783080" cy="384048"/>
          </a:xfrm>
          <a:prstGeom prst="rect">
            <a:avLst/>
          </a:prstGeom>
          <a:noFill/>
          <a:ln/>
        </p:spPr>
        <p:txBody>
          <a:bodyPr wrap="square" rtlCol="0" anchor="ctr"/>
          <a:lstStyle/>
          <a:p>
            <a:pPr marL="0" indent="0" algn="ctr">
              <a:buNone/>
            </a:pPr>
            <a:r>
              <a:rPr lang="ja-JP" altLang="en-US" sz="1800" dirty="0">
                <a:solidFill>
                  <a:srgbClr val="000000"/>
                </a:solidFill>
              </a:rPr>
              <a:t>💸</a:t>
            </a:r>
            <a:endParaRPr lang="en-US" sz="1800" dirty="0"/>
          </a:p>
        </p:txBody>
      </p:sp>
      <p:sp>
        <p:nvSpPr>
          <p:cNvPr id="22" name="Text 20"/>
          <p:cNvSpPr/>
          <p:nvPr/>
        </p:nvSpPr>
        <p:spPr>
          <a:xfrm>
            <a:off x="3931920" y="3648456"/>
            <a:ext cx="1783080" cy="219456"/>
          </a:xfrm>
          <a:prstGeom prst="rect">
            <a:avLst/>
          </a:prstGeom>
          <a:noFill/>
          <a:ln/>
        </p:spPr>
        <p:txBody>
          <a:bodyPr wrap="square" rtlCol="0" anchor="ctr"/>
          <a:lstStyle/>
          <a:p>
            <a:pPr marL="0" indent="0" algn="ctr">
              <a:buNone/>
            </a:pPr>
            <a:r>
              <a:rPr lang="ja-JP" altLang="en-US" sz="900" dirty="0">
                <a:solidFill>
                  <a:srgbClr val="8892A4"/>
                </a:solidFill>
              </a:rPr>
              <a:t>値段</a:t>
            </a:r>
            <a:endParaRPr lang="en-US" sz="900" dirty="0"/>
          </a:p>
        </p:txBody>
      </p:sp>
      <p:sp>
        <p:nvSpPr>
          <p:cNvPr id="23" name="Text 21"/>
          <p:cNvSpPr/>
          <p:nvPr/>
        </p:nvSpPr>
        <p:spPr>
          <a:xfrm>
            <a:off x="3931920" y="3858768"/>
            <a:ext cx="1783080" cy="512064"/>
          </a:xfrm>
          <a:prstGeom prst="rect">
            <a:avLst/>
          </a:prstGeom>
          <a:noFill/>
          <a:ln/>
        </p:spPr>
        <p:txBody>
          <a:bodyPr wrap="square" rtlCol="0" anchor="t"/>
          <a:lstStyle/>
          <a:p>
            <a:pPr marL="0" indent="0" algn="ctr">
              <a:buNone/>
            </a:pPr>
            <a:r>
              <a:rPr lang="ja-JP" altLang="en-US" sz="950" b="1" dirty="0">
                <a:solidFill>
                  <a:srgbClr val="FFFFFF"/>
                </a:solidFill>
              </a:rPr>
              <a:t>２０００円</a:t>
            </a:r>
            <a:endParaRPr lang="en-US" sz="950" dirty="0"/>
          </a:p>
        </p:txBody>
      </p:sp>
      <p:sp>
        <p:nvSpPr>
          <p:cNvPr id="24" name="Text 22"/>
          <p:cNvSpPr/>
          <p:nvPr/>
        </p:nvSpPr>
        <p:spPr>
          <a:xfrm>
            <a:off x="6035040" y="1801368"/>
            <a:ext cx="2880360" cy="256032"/>
          </a:xfrm>
          <a:prstGeom prst="rect">
            <a:avLst/>
          </a:prstGeom>
          <a:noFill/>
          <a:ln/>
        </p:spPr>
        <p:txBody>
          <a:bodyPr wrap="square" rtlCol="0" anchor="ctr"/>
          <a:lstStyle/>
          <a:p>
            <a:pPr marL="0" indent="0">
              <a:buNone/>
            </a:pPr>
            <a:r>
              <a:rPr lang="en-US" sz="1000" b="1" dirty="0">
                <a:solidFill>
                  <a:srgbClr val="8892A4"/>
                </a:solidFill>
              </a:rPr>
              <a:t>タグ</a:t>
            </a:r>
            <a:endParaRPr lang="en-US" sz="1000" dirty="0"/>
          </a:p>
        </p:txBody>
      </p:sp>
      <p:sp>
        <p:nvSpPr>
          <p:cNvPr id="25" name="Shape 23"/>
          <p:cNvSpPr/>
          <p:nvPr/>
        </p:nvSpPr>
        <p:spPr>
          <a:xfrm>
            <a:off x="6035040" y="2057400"/>
            <a:ext cx="2880360" cy="329184"/>
          </a:xfrm>
          <a:prstGeom prst="rect">
            <a:avLst/>
          </a:prstGeom>
          <a:solidFill>
            <a:srgbClr val="6C3483">
              <a:alpha val="20000"/>
            </a:srgbClr>
          </a:solidFill>
          <a:ln w="12700">
            <a:solidFill>
              <a:srgbClr val="6C3483">
                <a:alpha val="38000"/>
              </a:srgbClr>
            </a:solidFill>
            <a:prstDash val="solid"/>
          </a:ln>
        </p:spPr>
        <p:txBody>
          <a:bodyPr/>
          <a:lstStyle/>
          <a:p>
            <a:endParaRPr lang="ja-JP" altLang="en-US"/>
          </a:p>
        </p:txBody>
      </p:sp>
      <p:sp>
        <p:nvSpPr>
          <p:cNvPr id="26" name="Text 24"/>
          <p:cNvSpPr/>
          <p:nvPr/>
        </p:nvSpPr>
        <p:spPr>
          <a:xfrm>
            <a:off x="6035040" y="2057400"/>
            <a:ext cx="2880360" cy="329184"/>
          </a:xfrm>
          <a:prstGeom prst="rect">
            <a:avLst/>
          </a:prstGeom>
          <a:noFill/>
          <a:ln/>
        </p:spPr>
        <p:txBody>
          <a:bodyPr wrap="square" lIns="0" tIns="0" rIns="0" bIns="0" rtlCol="0" anchor="ctr"/>
          <a:lstStyle/>
          <a:p>
            <a:pPr marL="0" indent="0" algn="ctr">
              <a:buNone/>
            </a:pPr>
            <a:r>
              <a:rPr lang="en-US" sz="1100" b="1" dirty="0">
                <a:solidFill>
                  <a:srgbClr val="6C3483"/>
                </a:solidFill>
              </a:rPr>
              <a:t># 衝撃の展開</a:t>
            </a:r>
            <a:endParaRPr lang="en-US" sz="1100" dirty="0"/>
          </a:p>
        </p:txBody>
      </p:sp>
      <p:sp>
        <p:nvSpPr>
          <p:cNvPr id="27" name="Shape 25"/>
          <p:cNvSpPr/>
          <p:nvPr/>
        </p:nvSpPr>
        <p:spPr>
          <a:xfrm>
            <a:off x="6035040" y="2450592"/>
            <a:ext cx="2880360" cy="329184"/>
          </a:xfrm>
          <a:prstGeom prst="rect">
            <a:avLst/>
          </a:prstGeom>
          <a:solidFill>
            <a:srgbClr val="6C3483">
              <a:alpha val="20000"/>
            </a:srgbClr>
          </a:solidFill>
          <a:ln w="12700">
            <a:solidFill>
              <a:srgbClr val="6C3483">
                <a:alpha val="38000"/>
              </a:srgbClr>
            </a:solidFill>
            <a:prstDash val="solid"/>
          </a:ln>
        </p:spPr>
        <p:txBody>
          <a:bodyPr/>
          <a:lstStyle/>
          <a:p>
            <a:endParaRPr lang="ja-JP" altLang="en-US"/>
          </a:p>
        </p:txBody>
      </p:sp>
      <p:sp>
        <p:nvSpPr>
          <p:cNvPr id="28" name="Text 26"/>
          <p:cNvSpPr/>
          <p:nvPr/>
        </p:nvSpPr>
        <p:spPr>
          <a:xfrm>
            <a:off x="6035040" y="2450592"/>
            <a:ext cx="2880360" cy="329184"/>
          </a:xfrm>
          <a:prstGeom prst="rect">
            <a:avLst/>
          </a:prstGeom>
          <a:noFill/>
          <a:ln/>
        </p:spPr>
        <p:txBody>
          <a:bodyPr wrap="square" lIns="0" tIns="0" rIns="0" bIns="0" rtlCol="0" anchor="ctr"/>
          <a:lstStyle/>
          <a:p>
            <a:pPr marL="0" indent="0" algn="ctr">
              <a:buNone/>
            </a:pPr>
            <a:r>
              <a:rPr lang="en-US" sz="1100" b="1" dirty="0">
                <a:solidFill>
                  <a:srgbClr val="6C3483"/>
                </a:solidFill>
              </a:rPr>
              <a:t># メタ要素</a:t>
            </a:r>
            <a:endParaRPr lang="en-US" sz="1100" dirty="0"/>
          </a:p>
        </p:txBody>
      </p:sp>
      <p:sp>
        <p:nvSpPr>
          <p:cNvPr id="29" name="Shape 27"/>
          <p:cNvSpPr/>
          <p:nvPr/>
        </p:nvSpPr>
        <p:spPr>
          <a:xfrm>
            <a:off x="6035040" y="2843784"/>
            <a:ext cx="2880360" cy="329184"/>
          </a:xfrm>
          <a:prstGeom prst="rect">
            <a:avLst/>
          </a:prstGeom>
          <a:solidFill>
            <a:srgbClr val="6C3483">
              <a:alpha val="20000"/>
            </a:srgbClr>
          </a:solidFill>
          <a:ln w="12700">
            <a:solidFill>
              <a:srgbClr val="6C3483">
                <a:alpha val="38000"/>
              </a:srgbClr>
            </a:solidFill>
            <a:prstDash val="solid"/>
          </a:ln>
        </p:spPr>
        <p:txBody>
          <a:bodyPr/>
          <a:lstStyle/>
          <a:p>
            <a:endParaRPr lang="ja-JP" altLang="en-US"/>
          </a:p>
        </p:txBody>
      </p:sp>
      <p:sp>
        <p:nvSpPr>
          <p:cNvPr id="30" name="Text 28"/>
          <p:cNvSpPr/>
          <p:nvPr/>
        </p:nvSpPr>
        <p:spPr>
          <a:xfrm>
            <a:off x="6035040" y="2843784"/>
            <a:ext cx="2880360" cy="329184"/>
          </a:xfrm>
          <a:prstGeom prst="rect">
            <a:avLst/>
          </a:prstGeom>
          <a:noFill/>
          <a:ln/>
        </p:spPr>
        <p:txBody>
          <a:bodyPr wrap="square" lIns="0" tIns="0" rIns="0" bIns="0" rtlCol="0" anchor="ctr"/>
          <a:lstStyle/>
          <a:p>
            <a:pPr marL="0" indent="0" algn="ctr">
              <a:buNone/>
            </a:pPr>
            <a:r>
              <a:rPr lang="en-US" sz="1100" b="1" dirty="0">
                <a:solidFill>
                  <a:srgbClr val="6C3483"/>
                </a:solidFill>
              </a:rPr>
              <a:t># 唯一無二</a:t>
            </a:r>
            <a:endParaRPr lang="en-US" sz="1100" dirty="0"/>
          </a:p>
        </p:txBody>
      </p:sp>
      <p:sp>
        <p:nvSpPr>
          <p:cNvPr id="31" name="Shape 29"/>
          <p:cNvSpPr/>
          <p:nvPr/>
        </p:nvSpPr>
        <p:spPr>
          <a:xfrm>
            <a:off x="0" y="4846320"/>
            <a:ext cx="9144000" cy="297180"/>
          </a:xfrm>
          <a:prstGeom prst="rect">
            <a:avLst/>
          </a:prstGeom>
          <a:solidFill>
            <a:srgbClr val="0A0A14"/>
          </a:solidFill>
          <a:ln w="12700">
            <a:solidFill>
              <a:srgbClr val="0A0A14"/>
            </a:solidFill>
            <a:prstDash val="solid"/>
          </a:ln>
        </p:spPr>
        <p:txBody>
          <a:bodyPr/>
          <a:lstStyle/>
          <a:p>
            <a:endParaRPr lang="ja-JP" altLang="en-US"/>
          </a:p>
        </p:txBody>
      </p:sp>
      <p:sp>
        <p:nvSpPr>
          <p:cNvPr id="32" name="Shape 30"/>
          <p:cNvSpPr/>
          <p:nvPr/>
        </p:nvSpPr>
        <p:spPr>
          <a:xfrm>
            <a:off x="4023360" y="4960620"/>
            <a:ext cx="109728" cy="109728"/>
          </a:xfrm>
          <a:prstGeom prst="ellipse">
            <a:avLst/>
          </a:prstGeom>
          <a:solidFill>
            <a:srgbClr val="3D4450"/>
          </a:solidFill>
          <a:ln w="12700">
            <a:solidFill>
              <a:srgbClr val="3D4450"/>
            </a:solidFill>
            <a:prstDash val="solid"/>
          </a:ln>
        </p:spPr>
        <p:txBody>
          <a:bodyPr/>
          <a:lstStyle/>
          <a:p>
            <a:endParaRPr lang="ja-JP" altLang="en-US"/>
          </a:p>
        </p:txBody>
      </p:sp>
      <p:sp>
        <p:nvSpPr>
          <p:cNvPr id="33" name="Shape 31"/>
          <p:cNvSpPr/>
          <p:nvPr/>
        </p:nvSpPr>
        <p:spPr>
          <a:xfrm>
            <a:off x="4224528" y="4960620"/>
            <a:ext cx="109728" cy="109728"/>
          </a:xfrm>
          <a:prstGeom prst="ellipse">
            <a:avLst/>
          </a:prstGeom>
          <a:solidFill>
            <a:srgbClr val="6C3483"/>
          </a:solidFill>
          <a:ln w="12700">
            <a:solidFill>
              <a:srgbClr val="6C3483"/>
            </a:solidFill>
            <a:prstDash val="solid"/>
          </a:ln>
        </p:spPr>
        <p:txBody>
          <a:bodyPr/>
          <a:lstStyle/>
          <a:p>
            <a:endParaRPr lang="ja-JP" altLang="en-US"/>
          </a:p>
        </p:txBody>
      </p:sp>
      <p:sp>
        <p:nvSpPr>
          <p:cNvPr id="34" name="Shape 32"/>
          <p:cNvSpPr/>
          <p:nvPr/>
        </p:nvSpPr>
        <p:spPr>
          <a:xfrm>
            <a:off x="4425696" y="4960620"/>
            <a:ext cx="109728" cy="109728"/>
          </a:xfrm>
          <a:prstGeom prst="ellipse">
            <a:avLst/>
          </a:prstGeom>
          <a:solidFill>
            <a:srgbClr val="3D4450"/>
          </a:solidFill>
          <a:ln w="12700">
            <a:solidFill>
              <a:srgbClr val="3D4450"/>
            </a:solidFill>
            <a:prstDash val="solid"/>
          </a:ln>
        </p:spPr>
        <p:txBody>
          <a:bodyPr/>
          <a:lstStyle/>
          <a:p>
            <a:endParaRPr lang="ja-JP" altLang="en-US"/>
          </a:p>
        </p:txBody>
      </p:sp>
      <p:sp>
        <p:nvSpPr>
          <p:cNvPr id="35" name="Shape 33"/>
          <p:cNvSpPr/>
          <p:nvPr/>
        </p:nvSpPr>
        <p:spPr>
          <a:xfrm>
            <a:off x="4626864" y="4960620"/>
            <a:ext cx="109728" cy="109728"/>
          </a:xfrm>
          <a:prstGeom prst="ellipse">
            <a:avLst/>
          </a:prstGeom>
          <a:solidFill>
            <a:srgbClr val="3D4450"/>
          </a:solidFill>
          <a:ln w="12700">
            <a:solidFill>
              <a:srgbClr val="3D4450"/>
            </a:solidFill>
            <a:prstDash val="solid"/>
          </a:ln>
        </p:spPr>
        <p:txBody>
          <a:bodyPr/>
          <a:lstStyle/>
          <a:p>
            <a:endParaRPr lang="ja-JP" altLang="en-US"/>
          </a:p>
        </p:txBody>
      </p:sp>
      <p:sp>
        <p:nvSpPr>
          <p:cNvPr id="36" name="Shape 34"/>
          <p:cNvSpPr/>
          <p:nvPr/>
        </p:nvSpPr>
        <p:spPr>
          <a:xfrm>
            <a:off x="4828032" y="4960620"/>
            <a:ext cx="109728" cy="109728"/>
          </a:xfrm>
          <a:prstGeom prst="ellipse">
            <a:avLst/>
          </a:prstGeom>
          <a:solidFill>
            <a:srgbClr val="3D4450"/>
          </a:solidFill>
          <a:ln w="12700">
            <a:solidFill>
              <a:srgbClr val="3D4450"/>
            </a:solidFill>
            <a:prstDash val="solid"/>
          </a:ln>
        </p:spPr>
        <p:txBody>
          <a:bodyPr/>
          <a:lstStyle/>
          <a:p>
            <a:endParaRPr lang="ja-JP" altLang="en-US"/>
          </a:p>
        </p:txBody>
      </p:sp>
      <p:sp>
        <p:nvSpPr>
          <p:cNvPr id="37" name="Shape 35"/>
          <p:cNvSpPr/>
          <p:nvPr/>
        </p:nvSpPr>
        <p:spPr>
          <a:xfrm>
            <a:off x="5029200" y="4960620"/>
            <a:ext cx="109728" cy="109728"/>
          </a:xfrm>
          <a:prstGeom prst="ellipse">
            <a:avLst/>
          </a:prstGeom>
          <a:solidFill>
            <a:srgbClr val="3D4450"/>
          </a:solidFill>
          <a:ln w="12700">
            <a:solidFill>
              <a:srgbClr val="3D4450"/>
            </a:solidFill>
            <a:prstDash val="solid"/>
          </a:ln>
        </p:spPr>
        <p:txBody>
          <a:bodyPr/>
          <a:lstStyle/>
          <a:p>
            <a:endParaRPr lang="ja-JP" altLang="en-US"/>
          </a:p>
        </p:txBody>
      </p:sp>
      <p:sp>
        <p:nvSpPr>
          <p:cNvPr id="38" name="Text 36"/>
          <p:cNvSpPr/>
          <p:nvPr/>
        </p:nvSpPr>
        <p:spPr>
          <a:xfrm>
            <a:off x="7772400" y="4846320"/>
            <a:ext cx="1188720" cy="297180"/>
          </a:xfrm>
          <a:prstGeom prst="rect">
            <a:avLst/>
          </a:prstGeom>
          <a:noFill/>
          <a:ln/>
        </p:spPr>
        <p:txBody>
          <a:bodyPr wrap="square" rtlCol="0" anchor="ctr"/>
          <a:lstStyle/>
          <a:p>
            <a:pPr marL="0" indent="0" algn="ctr">
              <a:buNone/>
            </a:pPr>
            <a:r>
              <a:rPr lang="en-US" sz="1000" dirty="0">
                <a:solidFill>
                  <a:srgbClr val="8892A4"/>
                </a:solidFill>
              </a:rPr>
              <a:t>2 / 6</a:t>
            </a:r>
            <a:endParaRPr lang="en-US" sz="1000" dirty="0"/>
          </a:p>
        </p:txBody>
      </p:sp>
      <p:pic>
        <p:nvPicPr>
          <p:cNvPr id="40" name="図 39">
            <a:extLst>
              <a:ext uri="{FF2B5EF4-FFF2-40B4-BE49-F238E27FC236}">
                <a16:creationId xmlns:a16="http://schemas.microsoft.com/office/drawing/2014/main" id="{45EFE876-244C-7BC7-6EA9-C99332D9C225}"/>
              </a:ext>
            </a:extLst>
          </p:cNvPr>
          <p:cNvPicPr>
            <a:picLocks noChangeAspect="1"/>
          </p:cNvPicPr>
          <p:nvPr/>
        </p:nvPicPr>
        <p:blipFill>
          <a:blip r:embed="rId3"/>
          <a:stretch>
            <a:fillRect/>
          </a:stretch>
        </p:blipFill>
        <p:spPr>
          <a:xfrm>
            <a:off x="5019427" y="51200"/>
            <a:ext cx="3562847" cy="1686160"/>
          </a:xfrm>
          <a:prstGeom prst="rect">
            <a:avLst/>
          </a:prstGeom>
        </p:spPr>
      </p:pic>
      <p:pic>
        <p:nvPicPr>
          <p:cNvPr id="42" name="図 41">
            <a:extLst>
              <a:ext uri="{FF2B5EF4-FFF2-40B4-BE49-F238E27FC236}">
                <a16:creationId xmlns:a16="http://schemas.microsoft.com/office/drawing/2014/main" id="{2C360CD5-7A30-9C32-991F-26BB4DAC0A48}"/>
              </a:ext>
            </a:extLst>
          </p:cNvPr>
          <p:cNvPicPr>
            <a:picLocks noChangeAspect="1"/>
          </p:cNvPicPr>
          <p:nvPr/>
        </p:nvPicPr>
        <p:blipFill>
          <a:blip r:embed="rId4"/>
          <a:stretch>
            <a:fillRect/>
          </a:stretch>
        </p:blipFill>
        <p:spPr>
          <a:xfrm>
            <a:off x="5997542" y="1823320"/>
            <a:ext cx="3010220" cy="1741932"/>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F0E17"/>
        </a:solidFill>
        <a:effectLst/>
      </p:bgPr>
    </p:bg>
    <p:spTree>
      <p:nvGrpSpPr>
        <p:cNvPr id="1" name=""/>
        <p:cNvGrpSpPr/>
        <p:nvPr/>
      </p:nvGrpSpPr>
      <p:grpSpPr>
        <a:xfrm>
          <a:off x="0" y="0"/>
          <a:ext cx="0" cy="0"/>
          <a:chOff x="0" y="0"/>
          <a:chExt cx="0" cy="0"/>
        </a:xfrm>
      </p:grpSpPr>
      <p:sp>
        <p:nvSpPr>
          <p:cNvPr id="2" name="Shape 0"/>
          <p:cNvSpPr/>
          <p:nvPr/>
        </p:nvSpPr>
        <p:spPr>
          <a:xfrm>
            <a:off x="4572000" y="-1828800"/>
            <a:ext cx="7315200" cy="7315200"/>
          </a:xfrm>
          <a:prstGeom prst="ellipse">
            <a:avLst/>
          </a:prstGeom>
          <a:solidFill>
            <a:srgbClr val="1A8CFF">
              <a:alpha val="8000"/>
            </a:srgbClr>
          </a:solidFill>
          <a:ln w="12700">
            <a:solidFill>
              <a:srgbClr val="1A8CFF">
                <a:alpha val="8000"/>
              </a:srgbClr>
            </a:solidFill>
            <a:prstDash val="solid"/>
          </a:ln>
        </p:spPr>
        <p:txBody>
          <a:bodyPr/>
          <a:lstStyle/>
          <a:p>
            <a:endParaRPr lang="ja-JP" altLang="en-US"/>
          </a:p>
        </p:txBody>
      </p:sp>
      <p:sp>
        <p:nvSpPr>
          <p:cNvPr id="3" name="Shape 1"/>
          <p:cNvSpPr/>
          <p:nvPr/>
        </p:nvSpPr>
        <p:spPr>
          <a:xfrm>
            <a:off x="0" y="0"/>
            <a:ext cx="164592" cy="5143500"/>
          </a:xfrm>
          <a:prstGeom prst="rect">
            <a:avLst/>
          </a:prstGeom>
          <a:solidFill>
            <a:srgbClr val="1A8CFF"/>
          </a:solidFill>
          <a:ln w="12700">
            <a:solidFill>
              <a:srgbClr val="1A8CFF"/>
            </a:solidFill>
            <a:prstDash val="solid"/>
          </a:ln>
        </p:spPr>
        <p:txBody>
          <a:bodyPr/>
          <a:lstStyle/>
          <a:p>
            <a:endParaRPr lang="ja-JP" altLang="en-US"/>
          </a:p>
        </p:txBody>
      </p:sp>
      <p:sp>
        <p:nvSpPr>
          <p:cNvPr id="4" name="Shape 2"/>
          <p:cNvSpPr/>
          <p:nvPr/>
        </p:nvSpPr>
        <p:spPr>
          <a:xfrm>
            <a:off x="320040" y="256032"/>
            <a:ext cx="658368" cy="658368"/>
          </a:xfrm>
          <a:prstGeom prst="rect">
            <a:avLst/>
          </a:prstGeom>
          <a:solidFill>
            <a:srgbClr val="1A8CFF"/>
          </a:solidFill>
          <a:ln w="12700">
            <a:solidFill>
              <a:srgbClr val="1A8CFF"/>
            </a:solidFill>
            <a:prstDash val="solid"/>
          </a:ln>
        </p:spPr>
        <p:txBody>
          <a:bodyPr/>
          <a:lstStyle/>
          <a:p>
            <a:endParaRPr lang="ja-JP" altLang="en-US"/>
          </a:p>
        </p:txBody>
      </p:sp>
      <p:sp>
        <p:nvSpPr>
          <p:cNvPr id="5" name="Text 3"/>
          <p:cNvSpPr/>
          <p:nvPr/>
        </p:nvSpPr>
        <p:spPr>
          <a:xfrm>
            <a:off x="320040" y="256032"/>
            <a:ext cx="658368" cy="658368"/>
          </a:xfrm>
          <a:prstGeom prst="rect">
            <a:avLst/>
          </a:prstGeom>
          <a:noFill/>
          <a:ln/>
        </p:spPr>
        <p:txBody>
          <a:bodyPr wrap="square" lIns="0" tIns="0" rIns="0" bIns="0" rtlCol="0" anchor="ctr"/>
          <a:lstStyle/>
          <a:p>
            <a:pPr marL="0" indent="0" algn="ctr">
              <a:buNone/>
            </a:pPr>
            <a:r>
              <a:rPr lang="en-US" sz="2200" b="1" dirty="0">
                <a:solidFill>
                  <a:srgbClr val="0F0E17"/>
                </a:solidFill>
                <a:latin typeface="Arial Black" pitchFamily="34" charset="0"/>
                <a:ea typeface="Arial Black" pitchFamily="34" charset="-122"/>
                <a:cs typeface="Arial Black" pitchFamily="34" charset="-120"/>
              </a:rPr>
              <a:t>3</a:t>
            </a:r>
            <a:endParaRPr lang="en-US" sz="2200" dirty="0"/>
          </a:p>
        </p:txBody>
      </p:sp>
      <p:sp>
        <p:nvSpPr>
          <p:cNvPr id="6" name="Shape 4"/>
          <p:cNvSpPr/>
          <p:nvPr/>
        </p:nvSpPr>
        <p:spPr>
          <a:xfrm>
            <a:off x="1115568" y="301752"/>
            <a:ext cx="2377440" cy="347472"/>
          </a:xfrm>
          <a:prstGeom prst="roundRect">
            <a:avLst>
              <a:gd name="adj" fmla="val 21053"/>
            </a:avLst>
          </a:prstGeom>
          <a:solidFill>
            <a:srgbClr val="1A8CFF">
              <a:alpha val="25000"/>
            </a:srgbClr>
          </a:solidFill>
          <a:ln w="12700">
            <a:solidFill>
              <a:srgbClr val="1A8CFF">
                <a:alpha val="55000"/>
              </a:srgbClr>
            </a:solidFill>
            <a:prstDash val="solid"/>
          </a:ln>
        </p:spPr>
        <p:txBody>
          <a:bodyPr/>
          <a:lstStyle/>
          <a:p>
            <a:endParaRPr lang="ja-JP" altLang="en-US"/>
          </a:p>
        </p:txBody>
      </p:sp>
      <p:sp>
        <p:nvSpPr>
          <p:cNvPr id="7" name="Text 5"/>
          <p:cNvSpPr/>
          <p:nvPr/>
        </p:nvSpPr>
        <p:spPr>
          <a:xfrm>
            <a:off x="1115568" y="301752"/>
            <a:ext cx="2377440" cy="347472"/>
          </a:xfrm>
          <a:prstGeom prst="rect">
            <a:avLst/>
          </a:prstGeom>
          <a:noFill/>
          <a:ln/>
        </p:spPr>
        <p:txBody>
          <a:bodyPr wrap="square" lIns="0" tIns="0" rIns="0" bIns="0" rtlCol="0" anchor="ctr"/>
          <a:lstStyle/>
          <a:p>
            <a:pPr marL="0" indent="0" algn="ctr">
              <a:buNone/>
            </a:pPr>
            <a:r>
              <a:rPr lang="en-US" sz="1100" b="1" dirty="0" err="1">
                <a:solidFill>
                  <a:srgbClr val="1A8CFF"/>
                </a:solidFill>
              </a:rPr>
              <a:t>ローグライク・魔法</a:t>
            </a:r>
            <a:r>
              <a:rPr lang="ja-JP" altLang="en-US" sz="1100" b="1" dirty="0">
                <a:solidFill>
                  <a:srgbClr val="1A8CFF"/>
                </a:solidFill>
              </a:rPr>
              <a:t>デッキ構築</a:t>
            </a:r>
            <a:endParaRPr lang="en-US" sz="1100" dirty="0"/>
          </a:p>
        </p:txBody>
      </p:sp>
      <p:sp>
        <p:nvSpPr>
          <p:cNvPr id="8" name="Text 6"/>
          <p:cNvSpPr/>
          <p:nvPr/>
        </p:nvSpPr>
        <p:spPr>
          <a:xfrm>
            <a:off x="7132320" y="137160"/>
            <a:ext cx="1737360" cy="1737360"/>
          </a:xfrm>
          <a:prstGeom prst="rect">
            <a:avLst/>
          </a:prstGeom>
          <a:noFill/>
          <a:ln/>
        </p:spPr>
        <p:txBody>
          <a:bodyPr wrap="square" rtlCol="0" anchor="ctr"/>
          <a:lstStyle/>
          <a:p>
            <a:pPr marL="0" indent="0" algn="ctr">
              <a:buNone/>
            </a:pPr>
            <a:r>
              <a:rPr lang="en-US" sz="7200" dirty="0">
                <a:solidFill>
                  <a:srgbClr val="000000"/>
                </a:solidFill>
              </a:rPr>
              <a:t>✨</a:t>
            </a:r>
            <a:endParaRPr lang="en-US" sz="7200" dirty="0"/>
          </a:p>
        </p:txBody>
      </p:sp>
      <p:sp>
        <p:nvSpPr>
          <p:cNvPr id="9" name="Text 7"/>
          <p:cNvSpPr/>
          <p:nvPr/>
        </p:nvSpPr>
        <p:spPr>
          <a:xfrm>
            <a:off x="320040" y="804672"/>
            <a:ext cx="6583680" cy="868680"/>
          </a:xfrm>
          <a:prstGeom prst="rect">
            <a:avLst/>
          </a:prstGeom>
          <a:noFill/>
          <a:ln/>
        </p:spPr>
        <p:txBody>
          <a:bodyPr wrap="square" rtlCol="0" anchor="ctr"/>
          <a:lstStyle/>
          <a:p>
            <a:pPr marL="0" indent="0">
              <a:buNone/>
            </a:pPr>
            <a:r>
              <a:rPr lang="en-US" sz="3600" b="1" dirty="0">
                <a:solidFill>
                  <a:srgbClr val="FFFFFF"/>
                </a:solidFill>
                <a:latin typeface="Arial Black" pitchFamily="34" charset="0"/>
                <a:ea typeface="Arial Black" pitchFamily="34" charset="-122"/>
                <a:cs typeface="Arial Black" pitchFamily="34" charset="-120"/>
              </a:rPr>
              <a:t>Noita</a:t>
            </a:r>
            <a:endParaRPr lang="en-US" sz="3600" dirty="0"/>
          </a:p>
        </p:txBody>
      </p:sp>
      <p:sp>
        <p:nvSpPr>
          <p:cNvPr id="10" name="Shape 8"/>
          <p:cNvSpPr/>
          <p:nvPr/>
        </p:nvSpPr>
        <p:spPr>
          <a:xfrm>
            <a:off x="320040" y="1755648"/>
            <a:ext cx="5577840" cy="1371600"/>
          </a:xfrm>
          <a:prstGeom prst="rect">
            <a:avLst/>
          </a:prstGeom>
          <a:solidFill>
            <a:srgbClr val="16213E"/>
          </a:solidFill>
          <a:ln w="12700">
            <a:solidFill>
              <a:srgbClr val="1A8CFF">
                <a:alpha val="32000"/>
              </a:srgbClr>
            </a:solidFill>
            <a:prstDash val="solid"/>
          </a:ln>
        </p:spPr>
        <p:txBody>
          <a:bodyPr/>
          <a:lstStyle/>
          <a:p>
            <a:endParaRPr lang="ja-JP" altLang="en-US"/>
          </a:p>
        </p:txBody>
      </p:sp>
      <p:sp>
        <p:nvSpPr>
          <p:cNvPr id="11" name="Text 9"/>
          <p:cNvSpPr/>
          <p:nvPr/>
        </p:nvSpPr>
        <p:spPr>
          <a:xfrm>
            <a:off x="502920" y="1801368"/>
            <a:ext cx="5212080" cy="1280160"/>
          </a:xfrm>
          <a:prstGeom prst="rect">
            <a:avLst/>
          </a:prstGeom>
          <a:noFill/>
          <a:ln/>
        </p:spPr>
        <p:txBody>
          <a:bodyPr wrap="square" rtlCol="0" anchor="ctr"/>
          <a:lstStyle/>
          <a:p>
            <a:pPr marL="0" indent="0">
              <a:buNone/>
            </a:pPr>
            <a:r>
              <a:rPr lang="en-US" sz="1300" dirty="0" err="1">
                <a:solidFill>
                  <a:srgbClr val="D1D5DB"/>
                </a:solidFill>
              </a:rPr>
              <a:t>全ピクセルが物理演算で動く</a:t>
            </a:r>
            <a:r>
              <a:rPr lang="ja-JP" altLang="en-US" sz="1300" dirty="0">
                <a:solidFill>
                  <a:srgbClr val="D1D5DB"/>
                </a:solidFill>
              </a:rPr>
              <a:t>、</a:t>
            </a:r>
            <a:r>
              <a:rPr lang="en-US" sz="1300" dirty="0" err="1">
                <a:solidFill>
                  <a:srgbClr val="D1D5DB"/>
                </a:solidFill>
              </a:rPr>
              <a:t>魔法使い</a:t>
            </a:r>
            <a:r>
              <a:rPr lang="ja-JP" altLang="en-US" sz="1300" dirty="0">
                <a:solidFill>
                  <a:srgbClr val="D1D5DB"/>
                </a:solidFill>
              </a:rPr>
              <a:t>アクション</a:t>
            </a:r>
            <a:r>
              <a:rPr lang="en-US" sz="1300" dirty="0" err="1">
                <a:solidFill>
                  <a:srgbClr val="D1D5DB"/>
                </a:solidFill>
              </a:rPr>
              <a:t>ローグライク</a:t>
            </a:r>
            <a:r>
              <a:rPr lang="en-US" sz="1300" dirty="0">
                <a:solidFill>
                  <a:srgbClr val="D1D5DB"/>
                </a:solidFill>
              </a:rPr>
              <a:t>。</a:t>
            </a:r>
          </a:p>
          <a:p>
            <a:pPr marL="0" indent="0">
              <a:buNone/>
            </a:pPr>
            <a:r>
              <a:rPr lang="ja-JP" altLang="en-US" sz="1300" dirty="0">
                <a:solidFill>
                  <a:srgbClr val="D1D5DB"/>
                </a:solidFill>
              </a:rPr>
              <a:t>拾った杖と魔法の組み合わせを好きなように入れ替えることができる。</a:t>
            </a:r>
            <a:r>
              <a:rPr lang="en-US" sz="1300" dirty="0" err="1">
                <a:solidFill>
                  <a:srgbClr val="D1D5DB"/>
                </a:solidFill>
              </a:rPr>
              <a:t>杖のビルドが無限大で</a:t>
            </a:r>
            <a:r>
              <a:rPr lang="en-US" sz="1300" dirty="0">
                <a:solidFill>
                  <a:srgbClr val="D1D5DB"/>
                </a:solidFill>
              </a:rPr>
              <a:t>、</a:t>
            </a:r>
            <a:r>
              <a:rPr lang="ja-JP" altLang="en-US" sz="1300" dirty="0">
                <a:solidFill>
                  <a:srgbClr val="D1D5DB"/>
                </a:solidFill>
              </a:rPr>
              <a:t>潜りなおすたびに新たな戦い方ができる</a:t>
            </a:r>
            <a:r>
              <a:rPr lang="en-US" sz="1300" dirty="0">
                <a:solidFill>
                  <a:srgbClr val="D1D5DB"/>
                </a:solidFill>
              </a:rPr>
              <a:t>。</a:t>
            </a:r>
          </a:p>
          <a:p>
            <a:pPr marL="0" indent="0">
              <a:buNone/>
            </a:pPr>
            <a:r>
              <a:rPr lang="en-US" sz="1300" dirty="0" err="1">
                <a:solidFill>
                  <a:srgbClr val="D1D5DB"/>
                </a:solidFill>
              </a:rPr>
              <a:t>GWが終わっても引き続きやり続ける危険なゲーム</a:t>
            </a:r>
            <a:r>
              <a:rPr lang="en-US" sz="1300" dirty="0">
                <a:solidFill>
                  <a:srgbClr val="D1D5DB"/>
                </a:solidFill>
              </a:rPr>
              <a:t>。</a:t>
            </a:r>
            <a:endParaRPr lang="en-US" sz="1300" dirty="0"/>
          </a:p>
        </p:txBody>
      </p:sp>
      <p:sp>
        <p:nvSpPr>
          <p:cNvPr id="12" name="Shape 10"/>
          <p:cNvSpPr/>
          <p:nvPr/>
        </p:nvSpPr>
        <p:spPr>
          <a:xfrm>
            <a:off x="320040" y="3246120"/>
            <a:ext cx="1783080" cy="1234440"/>
          </a:xfrm>
          <a:prstGeom prst="rect">
            <a:avLst/>
          </a:prstGeom>
          <a:solidFill>
            <a:srgbClr val="0D1B2A"/>
          </a:solidFill>
          <a:ln w="12700">
            <a:solidFill>
              <a:srgbClr val="1A8CFF">
                <a:alpha val="38000"/>
              </a:srgbClr>
            </a:solidFill>
            <a:prstDash val="solid"/>
          </a:ln>
        </p:spPr>
        <p:txBody>
          <a:bodyPr/>
          <a:lstStyle/>
          <a:p>
            <a:endParaRPr lang="ja-JP" altLang="en-US"/>
          </a:p>
        </p:txBody>
      </p:sp>
      <p:sp>
        <p:nvSpPr>
          <p:cNvPr id="13" name="Text 11"/>
          <p:cNvSpPr/>
          <p:nvPr/>
        </p:nvSpPr>
        <p:spPr>
          <a:xfrm>
            <a:off x="320040" y="3282696"/>
            <a:ext cx="1783080" cy="384048"/>
          </a:xfrm>
          <a:prstGeom prst="rect">
            <a:avLst/>
          </a:prstGeom>
          <a:noFill/>
          <a:ln/>
        </p:spPr>
        <p:txBody>
          <a:bodyPr wrap="square" rtlCol="0" anchor="ctr"/>
          <a:lstStyle/>
          <a:p>
            <a:pPr marL="0" indent="0" algn="ctr">
              <a:buNone/>
            </a:pPr>
            <a:r>
              <a:rPr lang="en-US" sz="1800" dirty="0">
                <a:solidFill>
                  <a:srgbClr val="000000"/>
                </a:solidFill>
              </a:rPr>
              <a:t>🎮</a:t>
            </a:r>
            <a:endParaRPr lang="en-US" sz="1800" dirty="0"/>
          </a:p>
        </p:txBody>
      </p:sp>
      <p:sp>
        <p:nvSpPr>
          <p:cNvPr id="14" name="Text 12"/>
          <p:cNvSpPr/>
          <p:nvPr/>
        </p:nvSpPr>
        <p:spPr>
          <a:xfrm>
            <a:off x="320040" y="3648456"/>
            <a:ext cx="1783080" cy="219456"/>
          </a:xfrm>
          <a:prstGeom prst="rect">
            <a:avLst/>
          </a:prstGeom>
          <a:noFill/>
          <a:ln/>
        </p:spPr>
        <p:txBody>
          <a:bodyPr wrap="square" rtlCol="0" anchor="ctr"/>
          <a:lstStyle/>
          <a:p>
            <a:pPr marL="0" indent="0" algn="ctr">
              <a:buNone/>
            </a:pPr>
            <a:r>
              <a:rPr lang="en-US" sz="900" dirty="0">
                <a:solidFill>
                  <a:srgbClr val="8892A4"/>
                </a:solidFill>
              </a:rPr>
              <a:t>プラットフォーム</a:t>
            </a:r>
            <a:endParaRPr lang="en-US" sz="900" dirty="0"/>
          </a:p>
        </p:txBody>
      </p:sp>
      <p:sp>
        <p:nvSpPr>
          <p:cNvPr id="15" name="Text 13"/>
          <p:cNvSpPr/>
          <p:nvPr/>
        </p:nvSpPr>
        <p:spPr>
          <a:xfrm>
            <a:off x="320040" y="3858768"/>
            <a:ext cx="1783080" cy="512064"/>
          </a:xfrm>
          <a:prstGeom prst="rect">
            <a:avLst/>
          </a:prstGeom>
          <a:noFill/>
          <a:ln/>
        </p:spPr>
        <p:txBody>
          <a:bodyPr wrap="square" rtlCol="0" anchor="t"/>
          <a:lstStyle/>
          <a:p>
            <a:pPr marL="0" indent="0" algn="ctr">
              <a:buNone/>
            </a:pPr>
            <a:r>
              <a:rPr lang="en-US" sz="950" b="1" dirty="0">
                <a:solidFill>
                  <a:srgbClr val="FFFFFF"/>
                </a:solidFill>
              </a:rPr>
              <a:t>PC</a:t>
            </a:r>
            <a:endParaRPr lang="en-US" sz="950" dirty="0"/>
          </a:p>
        </p:txBody>
      </p:sp>
      <p:sp>
        <p:nvSpPr>
          <p:cNvPr id="16" name="Shape 14"/>
          <p:cNvSpPr/>
          <p:nvPr/>
        </p:nvSpPr>
        <p:spPr>
          <a:xfrm>
            <a:off x="2125980" y="3246120"/>
            <a:ext cx="1783080" cy="1234440"/>
          </a:xfrm>
          <a:prstGeom prst="rect">
            <a:avLst/>
          </a:prstGeom>
          <a:solidFill>
            <a:srgbClr val="0D1B2A"/>
          </a:solidFill>
          <a:ln w="12700">
            <a:solidFill>
              <a:srgbClr val="1A8CFF">
                <a:alpha val="38000"/>
              </a:srgbClr>
            </a:solidFill>
            <a:prstDash val="solid"/>
          </a:ln>
        </p:spPr>
        <p:txBody>
          <a:bodyPr/>
          <a:lstStyle/>
          <a:p>
            <a:endParaRPr lang="ja-JP" altLang="en-US"/>
          </a:p>
        </p:txBody>
      </p:sp>
      <p:sp>
        <p:nvSpPr>
          <p:cNvPr id="17" name="Text 15"/>
          <p:cNvSpPr/>
          <p:nvPr/>
        </p:nvSpPr>
        <p:spPr>
          <a:xfrm>
            <a:off x="2125980" y="3282696"/>
            <a:ext cx="1783080" cy="384048"/>
          </a:xfrm>
          <a:prstGeom prst="rect">
            <a:avLst/>
          </a:prstGeom>
          <a:noFill/>
          <a:ln/>
        </p:spPr>
        <p:txBody>
          <a:bodyPr wrap="square" rtlCol="0" anchor="ctr"/>
          <a:lstStyle/>
          <a:p>
            <a:pPr marL="0" indent="0" algn="ctr">
              <a:buNone/>
            </a:pPr>
            <a:r>
              <a:rPr lang="en-US" sz="1800" dirty="0">
                <a:solidFill>
                  <a:srgbClr val="000000"/>
                </a:solidFill>
              </a:rPr>
              <a:t>⏱</a:t>
            </a:r>
            <a:endParaRPr lang="en-US" sz="1800" dirty="0"/>
          </a:p>
        </p:txBody>
      </p:sp>
      <p:sp>
        <p:nvSpPr>
          <p:cNvPr id="18" name="Text 16"/>
          <p:cNvSpPr/>
          <p:nvPr/>
        </p:nvSpPr>
        <p:spPr>
          <a:xfrm>
            <a:off x="2125980" y="3648456"/>
            <a:ext cx="1783080" cy="219456"/>
          </a:xfrm>
          <a:prstGeom prst="rect">
            <a:avLst/>
          </a:prstGeom>
          <a:noFill/>
          <a:ln/>
        </p:spPr>
        <p:txBody>
          <a:bodyPr wrap="square" rtlCol="0" anchor="ctr"/>
          <a:lstStyle/>
          <a:p>
            <a:pPr marL="0" indent="0" algn="ctr">
              <a:buNone/>
            </a:pPr>
            <a:r>
              <a:rPr lang="en-US" sz="900" dirty="0">
                <a:solidFill>
                  <a:srgbClr val="8892A4"/>
                </a:solidFill>
              </a:rPr>
              <a:t>プレイ時間</a:t>
            </a:r>
            <a:endParaRPr lang="en-US" sz="900" dirty="0"/>
          </a:p>
        </p:txBody>
      </p:sp>
      <p:sp>
        <p:nvSpPr>
          <p:cNvPr id="19" name="Text 17"/>
          <p:cNvSpPr/>
          <p:nvPr/>
        </p:nvSpPr>
        <p:spPr>
          <a:xfrm>
            <a:off x="2125980" y="3858768"/>
            <a:ext cx="1783080" cy="512064"/>
          </a:xfrm>
          <a:prstGeom prst="rect">
            <a:avLst/>
          </a:prstGeom>
          <a:noFill/>
          <a:ln/>
        </p:spPr>
        <p:txBody>
          <a:bodyPr wrap="square" rtlCol="0" anchor="t"/>
          <a:lstStyle/>
          <a:p>
            <a:pPr marL="0" indent="0" algn="ctr">
              <a:buNone/>
            </a:pPr>
            <a:r>
              <a:rPr lang="en-US" sz="950" b="1" dirty="0">
                <a:solidFill>
                  <a:srgbClr val="FFFFFF"/>
                </a:solidFill>
              </a:rPr>
              <a:t>無限（沼）</a:t>
            </a:r>
            <a:endParaRPr lang="en-US" sz="950" dirty="0"/>
          </a:p>
        </p:txBody>
      </p:sp>
      <p:sp>
        <p:nvSpPr>
          <p:cNvPr id="20" name="Shape 18"/>
          <p:cNvSpPr/>
          <p:nvPr/>
        </p:nvSpPr>
        <p:spPr>
          <a:xfrm>
            <a:off x="3931920" y="3246120"/>
            <a:ext cx="1783080" cy="1234440"/>
          </a:xfrm>
          <a:prstGeom prst="rect">
            <a:avLst/>
          </a:prstGeom>
          <a:solidFill>
            <a:srgbClr val="0D1B2A"/>
          </a:solidFill>
          <a:ln w="12700">
            <a:solidFill>
              <a:srgbClr val="1A8CFF">
                <a:alpha val="38000"/>
              </a:srgbClr>
            </a:solidFill>
            <a:prstDash val="solid"/>
          </a:ln>
        </p:spPr>
        <p:txBody>
          <a:bodyPr/>
          <a:lstStyle/>
          <a:p>
            <a:endParaRPr lang="ja-JP" altLang="en-US"/>
          </a:p>
        </p:txBody>
      </p:sp>
      <p:sp>
        <p:nvSpPr>
          <p:cNvPr id="21" name="Text 19"/>
          <p:cNvSpPr/>
          <p:nvPr/>
        </p:nvSpPr>
        <p:spPr>
          <a:xfrm>
            <a:off x="3931920" y="3282696"/>
            <a:ext cx="1783080" cy="384048"/>
          </a:xfrm>
          <a:prstGeom prst="rect">
            <a:avLst/>
          </a:prstGeom>
          <a:noFill/>
          <a:ln/>
        </p:spPr>
        <p:txBody>
          <a:bodyPr wrap="square" rtlCol="0" anchor="ctr"/>
          <a:lstStyle/>
          <a:p>
            <a:pPr marL="0" indent="0" algn="ctr">
              <a:buNone/>
            </a:pPr>
            <a:r>
              <a:rPr lang="ja-JP" altLang="en-US" sz="1800" dirty="0">
                <a:solidFill>
                  <a:srgbClr val="000000"/>
                </a:solidFill>
              </a:rPr>
              <a:t>💸</a:t>
            </a:r>
            <a:endParaRPr lang="en-US" sz="1800" dirty="0"/>
          </a:p>
        </p:txBody>
      </p:sp>
      <p:sp>
        <p:nvSpPr>
          <p:cNvPr id="22" name="Text 20"/>
          <p:cNvSpPr/>
          <p:nvPr/>
        </p:nvSpPr>
        <p:spPr>
          <a:xfrm>
            <a:off x="3931920" y="3648456"/>
            <a:ext cx="1783080" cy="219456"/>
          </a:xfrm>
          <a:prstGeom prst="rect">
            <a:avLst/>
          </a:prstGeom>
          <a:noFill/>
          <a:ln/>
        </p:spPr>
        <p:txBody>
          <a:bodyPr wrap="square" rtlCol="0" anchor="ctr"/>
          <a:lstStyle/>
          <a:p>
            <a:pPr marL="0" indent="0" algn="ctr">
              <a:buNone/>
            </a:pPr>
            <a:r>
              <a:rPr lang="ja-JP" altLang="en-US" sz="900" dirty="0">
                <a:solidFill>
                  <a:srgbClr val="8892A4"/>
                </a:solidFill>
              </a:rPr>
              <a:t>値段</a:t>
            </a:r>
            <a:endParaRPr lang="en-US" sz="900" dirty="0"/>
          </a:p>
        </p:txBody>
      </p:sp>
      <p:sp>
        <p:nvSpPr>
          <p:cNvPr id="23" name="Text 21"/>
          <p:cNvSpPr/>
          <p:nvPr/>
        </p:nvSpPr>
        <p:spPr>
          <a:xfrm>
            <a:off x="3931920" y="3858768"/>
            <a:ext cx="1783080" cy="512064"/>
          </a:xfrm>
          <a:prstGeom prst="rect">
            <a:avLst/>
          </a:prstGeom>
          <a:noFill/>
          <a:ln/>
        </p:spPr>
        <p:txBody>
          <a:bodyPr wrap="square" rtlCol="0" anchor="t"/>
          <a:lstStyle/>
          <a:p>
            <a:pPr marL="0" indent="0" algn="ctr">
              <a:buNone/>
            </a:pPr>
            <a:r>
              <a:rPr lang="en-US" sz="950" b="1" dirty="0">
                <a:solidFill>
                  <a:srgbClr val="FFFFFF"/>
                </a:solidFill>
              </a:rPr>
              <a:t>2000</a:t>
            </a:r>
            <a:r>
              <a:rPr lang="ja-JP" altLang="en-US" sz="950" b="1" dirty="0">
                <a:solidFill>
                  <a:srgbClr val="FFFFFF"/>
                </a:solidFill>
              </a:rPr>
              <a:t>円</a:t>
            </a:r>
            <a:endParaRPr lang="en-US" sz="950" dirty="0"/>
          </a:p>
        </p:txBody>
      </p:sp>
      <p:sp>
        <p:nvSpPr>
          <p:cNvPr id="24" name="Text 22"/>
          <p:cNvSpPr/>
          <p:nvPr/>
        </p:nvSpPr>
        <p:spPr>
          <a:xfrm>
            <a:off x="6035040" y="1801368"/>
            <a:ext cx="2880360" cy="256032"/>
          </a:xfrm>
          <a:prstGeom prst="rect">
            <a:avLst/>
          </a:prstGeom>
          <a:noFill/>
          <a:ln/>
        </p:spPr>
        <p:txBody>
          <a:bodyPr wrap="square" rtlCol="0" anchor="ctr"/>
          <a:lstStyle/>
          <a:p>
            <a:pPr marL="0" indent="0">
              <a:buNone/>
            </a:pPr>
            <a:r>
              <a:rPr lang="en-US" sz="1000" b="1" dirty="0">
                <a:solidFill>
                  <a:srgbClr val="8892A4"/>
                </a:solidFill>
              </a:rPr>
              <a:t>タグ</a:t>
            </a:r>
            <a:endParaRPr lang="en-US" sz="1000" dirty="0"/>
          </a:p>
        </p:txBody>
      </p:sp>
      <p:sp>
        <p:nvSpPr>
          <p:cNvPr id="25" name="Shape 23"/>
          <p:cNvSpPr/>
          <p:nvPr/>
        </p:nvSpPr>
        <p:spPr>
          <a:xfrm>
            <a:off x="6035040" y="2057400"/>
            <a:ext cx="2880360" cy="329184"/>
          </a:xfrm>
          <a:prstGeom prst="rect">
            <a:avLst/>
          </a:prstGeom>
          <a:solidFill>
            <a:srgbClr val="1A8CFF">
              <a:alpha val="20000"/>
            </a:srgbClr>
          </a:solidFill>
          <a:ln w="12700">
            <a:solidFill>
              <a:srgbClr val="1A8CFF">
                <a:alpha val="38000"/>
              </a:srgbClr>
            </a:solidFill>
            <a:prstDash val="solid"/>
          </a:ln>
        </p:spPr>
        <p:txBody>
          <a:bodyPr/>
          <a:lstStyle/>
          <a:p>
            <a:endParaRPr lang="ja-JP" altLang="en-US"/>
          </a:p>
        </p:txBody>
      </p:sp>
      <p:sp>
        <p:nvSpPr>
          <p:cNvPr id="26" name="Text 24"/>
          <p:cNvSpPr/>
          <p:nvPr/>
        </p:nvSpPr>
        <p:spPr>
          <a:xfrm>
            <a:off x="6035040" y="2057400"/>
            <a:ext cx="2880360" cy="329184"/>
          </a:xfrm>
          <a:prstGeom prst="rect">
            <a:avLst/>
          </a:prstGeom>
          <a:noFill/>
          <a:ln/>
        </p:spPr>
        <p:txBody>
          <a:bodyPr wrap="square" lIns="0" tIns="0" rIns="0" bIns="0" rtlCol="0" anchor="ctr"/>
          <a:lstStyle/>
          <a:p>
            <a:pPr marL="0" indent="0" algn="ctr">
              <a:buNone/>
            </a:pPr>
            <a:r>
              <a:rPr lang="en-US" sz="1100" b="1" dirty="0">
                <a:solidFill>
                  <a:srgbClr val="1A8CFF"/>
                </a:solidFill>
              </a:rPr>
              <a:t># 物理演算</a:t>
            </a:r>
            <a:endParaRPr lang="en-US" sz="1100" dirty="0"/>
          </a:p>
        </p:txBody>
      </p:sp>
      <p:sp>
        <p:nvSpPr>
          <p:cNvPr id="27" name="Shape 25"/>
          <p:cNvSpPr/>
          <p:nvPr/>
        </p:nvSpPr>
        <p:spPr>
          <a:xfrm>
            <a:off x="6035040" y="2450592"/>
            <a:ext cx="2880360" cy="329184"/>
          </a:xfrm>
          <a:prstGeom prst="rect">
            <a:avLst/>
          </a:prstGeom>
          <a:solidFill>
            <a:srgbClr val="1A8CFF">
              <a:alpha val="20000"/>
            </a:srgbClr>
          </a:solidFill>
          <a:ln w="12700">
            <a:solidFill>
              <a:srgbClr val="1A8CFF">
                <a:alpha val="38000"/>
              </a:srgbClr>
            </a:solidFill>
            <a:prstDash val="solid"/>
          </a:ln>
        </p:spPr>
        <p:txBody>
          <a:bodyPr/>
          <a:lstStyle/>
          <a:p>
            <a:endParaRPr lang="ja-JP" altLang="en-US"/>
          </a:p>
        </p:txBody>
      </p:sp>
      <p:sp>
        <p:nvSpPr>
          <p:cNvPr id="28" name="Text 26"/>
          <p:cNvSpPr/>
          <p:nvPr/>
        </p:nvSpPr>
        <p:spPr>
          <a:xfrm>
            <a:off x="6035040" y="2450592"/>
            <a:ext cx="2880360" cy="329184"/>
          </a:xfrm>
          <a:prstGeom prst="rect">
            <a:avLst/>
          </a:prstGeom>
          <a:noFill/>
          <a:ln/>
        </p:spPr>
        <p:txBody>
          <a:bodyPr wrap="square" lIns="0" tIns="0" rIns="0" bIns="0" rtlCol="0" anchor="ctr"/>
          <a:lstStyle/>
          <a:p>
            <a:pPr marL="0" indent="0" algn="ctr">
              <a:buNone/>
            </a:pPr>
            <a:r>
              <a:rPr lang="en-US" sz="1100" b="1" dirty="0">
                <a:solidFill>
                  <a:srgbClr val="1A8CFF"/>
                </a:solidFill>
              </a:rPr>
              <a:t># ピクセルアート</a:t>
            </a:r>
            <a:endParaRPr lang="en-US" sz="1100" dirty="0"/>
          </a:p>
        </p:txBody>
      </p:sp>
      <p:sp>
        <p:nvSpPr>
          <p:cNvPr id="29" name="Shape 27"/>
          <p:cNvSpPr/>
          <p:nvPr/>
        </p:nvSpPr>
        <p:spPr>
          <a:xfrm>
            <a:off x="6035040" y="2843784"/>
            <a:ext cx="2880360" cy="329184"/>
          </a:xfrm>
          <a:prstGeom prst="rect">
            <a:avLst/>
          </a:prstGeom>
          <a:solidFill>
            <a:srgbClr val="1A8CFF">
              <a:alpha val="20000"/>
            </a:srgbClr>
          </a:solidFill>
          <a:ln w="12700">
            <a:solidFill>
              <a:srgbClr val="1A8CFF">
                <a:alpha val="38000"/>
              </a:srgbClr>
            </a:solidFill>
            <a:prstDash val="solid"/>
          </a:ln>
        </p:spPr>
        <p:txBody>
          <a:bodyPr/>
          <a:lstStyle/>
          <a:p>
            <a:endParaRPr lang="ja-JP" altLang="en-US"/>
          </a:p>
        </p:txBody>
      </p:sp>
      <p:sp>
        <p:nvSpPr>
          <p:cNvPr id="30" name="Text 28"/>
          <p:cNvSpPr/>
          <p:nvPr/>
        </p:nvSpPr>
        <p:spPr>
          <a:xfrm>
            <a:off x="6035040" y="2843784"/>
            <a:ext cx="2880360" cy="329184"/>
          </a:xfrm>
          <a:prstGeom prst="rect">
            <a:avLst/>
          </a:prstGeom>
          <a:noFill/>
          <a:ln/>
        </p:spPr>
        <p:txBody>
          <a:bodyPr wrap="square" lIns="0" tIns="0" rIns="0" bIns="0" rtlCol="0" anchor="ctr"/>
          <a:lstStyle/>
          <a:p>
            <a:pPr marL="0" indent="0" algn="ctr">
              <a:buNone/>
            </a:pPr>
            <a:r>
              <a:rPr lang="en-US" sz="1100" b="1" dirty="0">
                <a:solidFill>
                  <a:srgbClr val="1A8CFF"/>
                </a:solidFill>
              </a:rPr>
              <a:t># 沼ゲー</a:t>
            </a:r>
            <a:endParaRPr lang="en-US" sz="1100" dirty="0"/>
          </a:p>
        </p:txBody>
      </p:sp>
      <p:sp>
        <p:nvSpPr>
          <p:cNvPr id="31" name="Shape 29"/>
          <p:cNvSpPr/>
          <p:nvPr/>
        </p:nvSpPr>
        <p:spPr>
          <a:xfrm>
            <a:off x="0" y="4846320"/>
            <a:ext cx="9144000" cy="297180"/>
          </a:xfrm>
          <a:prstGeom prst="rect">
            <a:avLst/>
          </a:prstGeom>
          <a:solidFill>
            <a:srgbClr val="0A0A14"/>
          </a:solidFill>
          <a:ln w="12700">
            <a:solidFill>
              <a:srgbClr val="0A0A14"/>
            </a:solidFill>
            <a:prstDash val="solid"/>
          </a:ln>
        </p:spPr>
        <p:txBody>
          <a:bodyPr/>
          <a:lstStyle/>
          <a:p>
            <a:endParaRPr lang="ja-JP" altLang="en-US"/>
          </a:p>
        </p:txBody>
      </p:sp>
      <p:sp>
        <p:nvSpPr>
          <p:cNvPr id="32" name="Shape 30"/>
          <p:cNvSpPr/>
          <p:nvPr/>
        </p:nvSpPr>
        <p:spPr>
          <a:xfrm>
            <a:off x="4023360" y="4960620"/>
            <a:ext cx="109728" cy="109728"/>
          </a:xfrm>
          <a:prstGeom prst="ellipse">
            <a:avLst/>
          </a:prstGeom>
          <a:solidFill>
            <a:srgbClr val="3D4450"/>
          </a:solidFill>
          <a:ln w="12700">
            <a:solidFill>
              <a:srgbClr val="3D4450"/>
            </a:solidFill>
            <a:prstDash val="solid"/>
          </a:ln>
        </p:spPr>
        <p:txBody>
          <a:bodyPr/>
          <a:lstStyle/>
          <a:p>
            <a:endParaRPr lang="ja-JP" altLang="en-US"/>
          </a:p>
        </p:txBody>
      </p:sp>
      <p:sp>
        <p:nvSpPr>
          <p:cNvPr id="33" name="Shape 31"/>
          <p:cNvSpPr/>
          <p:nvPr/>
        </p:nvSpPr>
        <p:spPr>
          <a:xfrm>
            <a:off x="4224528" y="4960620"/>
            <a:ext cx="109728" cy="109728"/>
          </a:xfrm>
          <a:prstGeom prst="ellipse">
            <a:avLst/>
          </a:prstGeom>
          <a:solidFill>
            <a:srgbClr val="3D4450"/>
          </a:solidFill>
          <a:ln w="12700">
            <a:solidFill>
              <a:srgbClr val="3D4450"/>
            </a:solidFill>
            <a:prstDash val="solid"/>
          </a:ln>
        </p:spPr>
        <p:txBody>
          <a:bodyPr/>
          <a:lstStyle/>
          <a:p>
            <a:endParaRPr lang="ja-JP" altLang="en-US"/>
          </a:p>
        </p:txBody>
      </p:sp>
      <p:sp>
        <p:nvSpPr>
          <p:cNvPr id="34" name="Shape 32"/>
          <p:cNvSpPr/>
          <p:nvPr/>
        </p:nvSpPr>
        <p:spPr>
          <a:xfrm>
            <a:off x="4425696" y="4960620"/>
            <a:ext cx="109728" cy="109728"/>
          </a:xfrm>
          <a:prstGeom prst="ellipse">
            <a:avLst/>
          </a:prstGeom>
          <a:solidFill>
            <a:srgbClr val="1A8CFF"/>
          </a:solidFill>
          <a:ln w="12700">
            <a:solidFill>
              <a:srgbClr val="1A8CFF"/>
            </a:solidFill>
            <a:prstDash val="solid"/>
          </a:ln>
        </p:spPr>
        <p:txBody>
          <a:bodyPr/>
          <a:lstStyle/>
          <a:p>
            <a:endParaRPr lang="ja-JP" altLang="en-US"/>
          </a:p>
        </p:txBody>
      </p:sp>
      <p:sp>
        <p:nvSpPr>
          <p:cNvPr id="35" name="Shape 33"/>
          <p:cNvSpPr/>
          <p:nvPr/>
        </p:nvSpPr>
        <p:spPr>
          <a:xfrm>
            <a:off x="4626864" y="4960620"/>
            <a:ext cx="109728" cy="109728"/>
          </a:xfrm>
          <a:prstGeom prst="ellipse">
            <a:avLst/>
          </a:prstGeom>
          <a:solidFill>
            <a:srgbClr val="3D4450"/>
          </a:solidFill>
          <a:ln w="12700">
            <a:solidFill>
              <a:srgbClr val="3D4450"/>
            </a:solidFill>
            <a:prstDash val="solid"/>
          </a:ln>
        </p:spPr>
        <p:txBody>
          <a:bodyPr/>
          <a:lstStyle/>
          <a:p>
            <a:endParaRPr lang="ja-JP" altLang="en-US"/>
          </a:p>
        </p:txBody>
      </p:sp>
      <p:sp>
        <p:nvSpPr>
          <p:cNvPr id="36" name="Shape 34"/>
          <p:cNvSpPr/>
          <p:nvPr/>
        </p:nvSpPr>
        <p:spPr>
          <a:xfrm>
            <a:off x="4828032" y="4960620"/>
            <a:ext cx="109728" cy="109728"/>
          </a:xfrm>
          <a:prstGeom prst="ellipse">
            <a:avLst/>
          </a:prstGeom>
          <a:solidFill>
            <a:srgbClr val="3D4450"/>
          </a:solidFill>
          <a:ln w="12700">
            <a:solidFill>
              <a:srgbClr val="3D4450"/>
            </a:solidFill>
            <a:prstDash val="solid"/>
          </a:ln>
        </p:spPr>
        <p:txBody>
          <a:bodyPr/>
          <a:lstStyle/>
          <a:p>
            <a:endParaRPr lang="ja-JP" altLang="en-US"/>
          </a:p>
        </p:txBody>
      </p:sp>
      <p:sp>
        <p:nvSpPr>
          <p:cNvPr id="37" name="Shape 35"/>
          <p:cNvSpPr/>
          <p:nvPr/>
        </p:nvSpPr>
        <p:spPr>
          <a:xfrm>
            <a:off x="5029200" y="4960620"/>
            <a:ext cx="109728" cy="109728"/>
          </a:xfrm>
          <a:prstGeom prst="ellipse">
            <a:avLst/>
          </a:prstGeom>
          <a:solidFill>
            <a:srgbClr val="3D4450"/>
          </a:solidFill>
          <a:ln w="12700">
            <a:solidFill>
              <a:srgbClr val="3D4450"/>
            </a:solidFill>
            <a:prstDash val="solid"/>
          </a:ln>
        </p:spPr>
        <p:txBody>
          <a:bodyPr/>
          <a:lstStyle/>
          <a:p>
            <a:endParaRPr lang="ja-JP" altLang="en-US"/>
          </a:p>
        </p:txBody>
      </p:sp>
      <p:sp>
        <p:nvSpPr>
          <p:cNvPr id="38" name="Text 36"/>
          <p:cNvSpPr/>
          <p:nvPr/>
        </p:nvSpPr>
        <p:spPr>
          <a:xfrm>
            <a:off x="7772400" y="4846320"/>
            <a:ext cx="1188720" cy="297180"/>
          </a:xfrm>
          <a:prstGeom prst="rect">
            <a:avLst/>
          </a:prstGeom>
          <a:noFill/>
          <a:ln/>
        </p:spPr>
        <p:txBody>
          <a:bodyPr wrap="square" rtlCol="0" anchor="ctr"/>
          <a:lstStyle/>
          <a:p>
            <a:pPr marL="0" indent="0" algn="ctr">
              <a:buNone/>
            </a:pPr>
            <a:r>
              <a:rPr lang="en-US" sz="1000" dirty="0">
                <a:solidFill>
                  <a:srgbClr val="8892A4"/>
                </a:solidFill>
              </a:rPr>
              <a:t>3 / 6</a:t>
            </a:r>
            <a:endParaRPr lang="en-US" sz="1000" dirty="0"/>
          </a:p>
        </p:txBody>
      </p:sp>
      <p:pic>
        <p:nvPicPr>
          <p:cNvPr id="40" name="図 39">
            <a:extLst>
              <a:ext uri="{FF2B5EF4-FFF2-40B4-BE49-F238E27FC236}">
                <a16:creationId xmlns:a16="http://schemas.microsoft.com/office/drawing/2014/main" id="{D168B412-8707-AF8C-DA8D-DCD012872F6D}"/>
              </a:ext>
            </a:extLst>
          </p:cNvPr>
          <p:cNvPicPr>
            <a:picLocks noChangeAspect="1"/>
          </p:cNvPicPr>
          <p:nvPr/>
        </p:nvPicPr>
        <p:blipFill>
          <a:blip r:embed="rId3"/>
          <a:stretch>
            <a:fillRect/>
          </a:stretch>
        </p:blipFill>
        <p:spPr>
          <a:xfrm>
            <a:off x="4078224" y="82296"/>
            <a:ext cx="4699516" cy="1622570"/>
          </a:xfrm>
          <a:prstGeom prst="rect">
            <a:avLst/>
          </a:prstGeom>
        </p:spPr>
      </p:pic>
      <p:pic>
        <p:nvPicPr>
          <p:cNvPr id="42" name="図 41">
            <a:extLst>
              <a:ext uri="{FF2B5EF4-FFF2-40B4-BE49-F238E27FC236}">
                <a16:creationId xmlns:a16="http://schemas.microsoft.com/office/drawing/2014/main" id="{8026A6B5-0CE6-2103-645C-BB0D18C1D348}"/>
              </a:ext>
            </a:extLst>
          </p:cNvPr>
          <p:cNvPicPr>
            <a:picLocks noChangeAspect="1"/>
          </p:cNvPicPr>
          <p:nvPr/>
        </p:nvPicPr>
        <p:blipFill>
          <a:blip r:embed="rId4"/>
          <a:stretch>
            <a:fillRect/>
          </a:stretch>
        </p:blipFill>
        <p:spPr>
          <a:xfrm>
            <a:off x="5992452" y="1781731"/>
            <a:ext cx="2919880" cy="1535422"/>
          </a:xfrm>
          <a:prstGeom prst="rect">
            <a:avLst/>
          </a:prstGeom>
        </p:spPr>
      </p:pic>
      <p:pic>
        <p:nvPicPr>
          <p:cNvPr id="44" name="図 43">
            <a:extLst>
              <a:ext uri="{FF2B5EF4-FFF2-40B4-BE49-F238E27FC236}">
                <a16:creationId xmlns:a16="http://schemas.microsoft.com/office/drawing/2014/main" id="{C49001C5-C683-357A-D01F-F9C32BBF9E73}"/>
              </a:ext>
            </a:extLst>
          </p:cNvPr>
          <p:cNvPicPr>
            <a:picLocks noChangeAspect="1"/>
          </p:cNvPicPr>
          <p:nvPr/>
        </p:nvPicPr>
        <p:blipFill>
          <a:blip r:embed="rId5"/>
          <a:stretch>
            <a:fillRect/>
          </a:stretch>
        </p:blipFill>
        <p:spPr>
          <a:xfrm>
            <a:off x="5974164" y="3379142"/>
            <a:ext cx="2968668" cy="1638044"/>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F0E17"/>
        </a:solidFill>
        <a:effectLst/>
      </p:bgPr>
    </p:bg>
    <p:spTree>
      <p:nvGrpSpPr>
        <p:cNvPr id="1" name=""/>
        <p:cNvGrpSpPr/>
        <p:nvPr/>
      </p:nvGrpSpPr>
      <p:grpSpPr>
        <a:xfrm>
          <a:off x="0" y="0"/>
          <a:ext cx="0" cy="0"/>
          <a:chOff x="0" y="0"/>
          <a:chExt cx="0" cy="0"/>
        </a:xfrm>
      </p:grpSpPr>
      <p:sp>
        <p:nvSpPr>
          <p:cNvPr id="2" name="Shape 0"/>
          <p:cNvSpPr/>
          <p:nvPr/>
        </p:nvSpPr>
        <p:spPr>
          <a:xfrm>
            <a:off x="4572000" y="-1828800"/>
            <a:ext cx="7315200" cy="7315200"/>
          </a:xfrm>
          <a:prstGeom prst="ellipse">
            <a:avLst/>
          </a:prstGeom>
          <a:solidFill>
            <a:srgbClr val="F0B429">
              <a:alpha val="8000"/>
            </a:srgbClr>
          </a:solidFill>
          <a:ln w="12700">
            <a:solidFill>
              <a:srgbClr val="F0B429">
                <a:alpha val="8000"/>
              </a:srgbClr>
            </a:solidFill>
            <a:prstDash val="solid"/>
          </a:ln>
        </p:spPr>
        <p:txBody>
          <a:bodyPr/>
          <a:lstStyle/>
          <a:p>
            <a:endParaRPr lang="ja-JP" altLang="en-US"/>
          </a:p>
        </p:txBody>
      </p:sp>
      <p:sp>
        <p:nvSpPr>
          <p:cNvPr id="3" name="Shape 1"/>
          <p:cNvSpPr/>
          <p:nvPr/>
        </p:nvSpPr>
        <p:spPr>
          <a:xfrm>
            <a:off x="0" y="0"/>
            <a:ext cx="164592" cy="5143500"/>
          </a:xfrm>
          <a:prstGeom prst="rect">
            <a:avLst/>
          </a:prstGeom>
          <a:solidFill>
            <a:srgbClr val="F0B429"/>
          </a:solidFill>
          <a:ln w="12700">
            <a:solidFill>
              <a:srgbClr val="F0B429"/>
            </a:solidFill>
            <a:prstDash val="solid"/>
          </a:ln>
        </p:spPr>
        <p:txBody>
          <a:bodyPr/>
          <a:lstStyle/>
          <a:p>
            <a:endParaRPr lang="ja-JP" altLang="en-US"/>
          </a:p>
        </p:txBody>
      </p:sp>
      <p:sp>
        <p:nvSpPr>
          <p:cNvPr id="4" name="Shape 2"/>
          <p:cNvSpPr/>
          <p:nvPr/>
        </p:nvSpPr>
        <p:spPr>
          <a:xfrm>
            <a:off x="320040" y="256032"/>
            <a:ext cx="658368" cy="658368"/>
          </a:xfrm>
          <a:prstGeom prst="rect">
            <a:avLst/>
          </a:prstGeom>
          <a:solidFill>
            <a:srgbClr val="F0B429"/>
          </a:solidFill>
          <a:ln w="12700">
            <a:solidFill>
              <a:srgbClr val="F0B429"/>
            </a:solidFill>
            <a:prstDash val="solid"/>
          </a:ln>
        </p:spPr>
        <p:txBody>
          <a:bodyPr/>
          <a:lstStyle/>
          <a:p>
            <a:endParaRPr lang="ja-JP" altLang="en-US"/>
          </a:p>
        </p:txBody>
      </p:sp>
      <p:sp>
        <p:nvSpPr>
          <p:cNvPr id="5" name="Text 3"/>
          <p:cNvSpPr/>
          <p:nvPr/>
        </p:nvSpPr>
        <p:spPr>
          <a:xfrm>
            <a:off x="320040" y="256032"/>
            <a:ext cx="658368" cy="658368"/>
          </a:xfrm>
          <a:prstGeom prst="rect">
            <a:avLst/>
          </a:prstGeom>
          <a:noFill/>
          <a:ln/>
        </p:spPr>
        <p:txBody>
          <a:bodyPr wrap="square" lIns="0" tIns="0" rIns="0" bIns="0" rtlCol="0" anchor="ctr"/>
          <a:lstStyle/>
          <a:p>
            <a:pPr marL="0" indent="0" algn="ctr">
              <a:buNone/>
            </a:pPr>
            <a:r>
              <a:rPr lang="en-US" sz="2200" b="1" dirty="0">
                <a:solidFill>
                  <a:srgbClr val="0F0E17"/>
                </a:solidFill>
                <a:latin typeface="Arial Black" pitchFamily="34" charset="0"/>
                <a:ea typeface="Arial Black" pitchFamily="34" charset="-122"/>
                <a:cs typeface="Arial Black" pitchFamily="34" charset="-120"/>
              </a:rPr>
              <a:t>4</a:t>
            </a:r>
            <a:endParaRPr lang="en-US" sz="2200" dirty="0"/>
          </a:p>
        </p:txBody>
      </p:sp>
      <p:sp>
        <p:nvSpPr>
          <p:cNvPr id="6" name="Shape 4"/>
          <p:cNvSpPr/>
          <p:nvPr/>
        </p:nvSpPr>
        <p:spPr>
          <a:xfrm>
            <a:off x="1115568" y="301752"/>
            <a:ext cx="2377440" cy="347472"/>
          </a:xfrm>
          <a:prstGeom prst="roundRect">
            <a:avLst>
              <a:gd name="adj" fmla="val 21053"/>
            </a:avLst>
          </a:prstGeom>
          <a:solidFill>
            <a:srgbClr val="F0B429">
              <a:alpha val="25000"/>
            </a:srgbClr>
          </a:solidFill>
          <a:ln w="12700">
            <a:solidFill>
              <a:srgbClr val="F0B429">
                <a:alpha val="55000"/>
              </a:srgbClr>
            </a:solidFill>
            <a:prstDash val="solid"/>
          </a:ln>
        </p:spPr>
        <p:txBody>
          <a:bodyPr/>
          <a:lstStyle/>
          <a:p>
            <a:endParaRPr lang="ja-JP" altLang="en-US"/>
          </a:p>
        </p:txBody>
      </p:sp>
      <p:sp>
        <p:nvSpPr>
          <p:cNvPr id="7" name="Text 5"/>
          <p:cNvSpPr/>
          <p:nvPr/>
        </p:nvSpPr>
        <p:spPr>
          <a:xfrm>
            <a:off x="1115568" y="301752"/>
            <a:ext cx="2377440" cy="347472"/>
          </a:xfrm>
          <a:prstGeom prst="rect">
            <a:avLst/>
          </a:prstGeom>
          <a:noFill/>
          <a:ln/>
        </p:spPr>
        <p:txBody>
          <a:bodyPr wrap="square" lIns="0" tIns="0" rIns="0" bIns="0" rtlCol="0" anchor="ctr"/>
          <a:lstStyle/>
          <a:p>
            <a:pPr marL="0" indent="0" algn="ctr">
              <a:buNone/>
            </a:pPr>
            <a:r>
              <a:rPr lang="en-US" sz="1100" b="1" dirty="0">
                <a:solidFill>
                  <a:srgbClr val="F0B429"/>
                </a:solidFill>
              </a:rPr>
              <a:t>パズル</a:t>
            </a:r>
            <a:endParaRPr lang="en-US" sz="1100" dirty="0"/>
          </a:p>
        </p:txBody>
      </p:sp>
      <p:sp>
        <p:nvSpPr>
          <p:cNvPr id="8" name="Text 6"/>
          <p:cNvSpPr/>
          <p:nvPr/>
        </p:nvSpPr>
        <p:spPr>
          <a:xfrm>
            <a:off x="7132320" y="137160"/>
            <a:ext cx="1737360" cy="1737360"/>
          </a:xfrm>
          <a:prstGeom prst="rect">
            <a:avLst/>
          </a:prstGeom>
          <a:noFill/>
          <a:ln/>
        </p:spPr>
        <p:txBody>
          <a:bodyPr wrap="square" rtlCol="0" anchor="ctr"/>
          <a:lstStyle/>
          <a:p>
            <a:pPr marL="0" indent="0" algn="ctr">
              <a:buNone/>
            </a:pPr>
            <a:r>
              <a:rPr lang="en-US" sz="7200" dirty="0">
                <a:solidFill>
                  <a:srgbClr val="000000"/>
                </a:solidFill>
              </a:rPr>
              <a:t>🧩</a:t>
            </a:r>
            <a:endParaRPr lang="en-US" sz="7200" dirty="0"/>
          </a:p>
        </p:txBody>
      </p:sp>
      <p:sp>
        <p:nvSpPr>
          <p:cNvPr id="9" name="Text 7"/>
          <p:cNvSpPr/>
          <p:nvPr/>
        </p:nvSpPr>
        <p:spPr>
          <a:xfrm>
            <a:off x="320040" y="804672"/>
            <a:ext cx="6583680" cy="868680"/>
          </a:xfrm>
          <a:prstGeom prst="rect">
            <a:avLst/>
          </a:prstGeom>
          <a:noFill/>
          <a:ln/>
        </p:spPr>
        <p:txBody>
          <a:bodyPr wrap="square" rtlCol="0" anchor="ctr"/>
          <a:lstStyle/>
          <a:p>
            <a:pPr marL="0" indent="0">
              <a:buNone/>
            </a:pPr>
            <a:r>
              <a:rPr lang="en-US" sz="3600" b="1" dirty="0">
                <a:solidFill>
                  <a:srgbClr val="FFFFFF"/>
                </a:solidFill>
                <a:latin typeface="Arial Black" pitchFamily="34" charset="0"/>
                <a:ea typeface="Arial Black" pitchFamily="34" charset="-122"/>
                <a:cs typeface="Arial Black" pitchFamily="34" charset="-120"/>
              </a:rPr>
              <a:t>Baba Is You</a:t>
            </a:r>
            <a:endParaRPr lang="en-US" sz="3600" dirty="0"/>
          </a:p>
        </p:txBody>
      </p:sp>
      <p:sp>
        <p:nvSpPr>
          <p:cNvPr id="10" name="Shape 8"/>
          <p:cNvSpPr/>
          <p:nvPr/>
        </p:nvSpPr>
        <p:spPr>
          <a:xfrm>
            <a:off x="320040" y="1755648"/>
            <a:ext cx="5577840" cy="1371600"/>
          </a:xfrm>
          <a:prstGeom prst="rect">
            <a:avLst/>
          </a:prstGeom>
          <a:solidFill>
            <a:srgbClr val="16213E"/>
          </a:solidFill>
          <a:ln w="12700">
            <a:solidFill>
              <a:srgbClr val="F0B429">
                <a:alpha val="32000"/>
              </a:srgbClr>
            </a:solidFill>
            <a:prstDash val="solid"/>
          </a:ln>
        </p:spPr>
        <p:txBody>
          <a:bodyPr/>
          <a:lstStyle/>
          <a:p>
            <a:endParaRPr lang="ja-JP" altLang="en-US"/>
          </a:p>
        </p:txBody>
      </p:sp>
      <p:sp>
        <p:nvSpPr>
          <p:cNvPr id="11" name="Text 9"/>
          <p:cNvSpPr/>
          <p:nvPr/>
        </p:nvSpPr>
        <p:spPr>
          <a:xfrm>
            <a:off x="502920" y="1801368"/>
            <a:ext cx="5212080" cy="1280160"/>
          </a:xfrm>
          <a:prstGeom prst="rect">
            <a:avLst/>
          </a:prstGeom>
          <a:noFill/>
          <a:ln/>
        </p:spPr>
        <p:txBody>
          <a:bodyPr wrap="square" rtlCol="0" anchor="ctr"/>
          <a:lstStyle/>
          <a:p>
            <a:pPr marL="0" indent="0">
              <a:buNone/>
            </a:pPr>
            <a:r>
              <a:rPr lang="en-US" sz="1300" dirty="0">
                <a:solidFill>
                  <a:srgbClr val="D1D5DB"/>
                </a:solidFill>
              </a:rPr>
              <a:t>「</a:t>
            </a:r>
            <a:r>
              <a:rPr lang="en-US" sz="1300" dirty="0" err="1">
                <a:solidFill>
                  <a:srgbClr val="D1D5DB"/>
                </a:solidFill>
              </a:rPr>
              <a:t>ルールそのものを動かしてパズルを解く」という発想が革命的なパズルゲーム。脳をフル回転させ</a:t>
            </a:r>
            <a:r>
              <a:rPr lang="ja-JP" altLang="en-US" sz="1300" dirty="0">
                <a:solidFill>
                  <a:srgbClr val="D1D5DB"/>
                </a:solidFill>
              </a:rPr>
              <a:t>、解答を閃いたときの気持ちよさは別格</a:t>
            </a:r>
            <a:r>
              <a:rPr lang="en-US" sz="1300" dirty="0">
                <a:solidFill>
                  <a:srgbClr val="D1D5DB"/>
                </a:solidFill>
              </a:rPr>
              <a:t>。</a:t>
            </a:r>
          </a:p>
          <a:p>
            <a:pPr marL="0" indent="0">
              <a:buNone/>
            </a:pPr>
            <a:r>
              <a:rPr lang="ja-JP" altLang="en-US" sz="1300" dirty="0">
                <a:solidFill>
                  <a:srgbClr val="D1D5DB"/>
                </a:solidFill>
              </a:rPr>
              <a:t>自分でステージを作ったり、他人が作ったステージで遊べる機能もあるので、いつまでも遊べる作品。</a:t>
            </a:r>
            <a:endParaRPr lang="en-US" sz="1300" dirty="0">
              <a:solidFill>
                <a:srgbClr val="D1D5DB"/>
              </a:solidFill>
            </a:endParaRPr>
          </a:p>
        </p:txBody>
      </p:sp>
      <p:sp>
        <p:nvSpPr>
          <p:cNvPr id="12" name="Shape 10"/>
          <p:cNvSpPr/>
          <p:nvPr/>
        </p:nvSpPr>
        <p:spPr>
          <a:xfrm>
            <a:off x="320040" y="3246120"/>
            <a:ext cx="1783080" cy="1234440"/>
          </a:xfrm>
          <a:prstGeom prst="rect">
            <a:avLst/>
          </a:prstGeom>
          <a:solidFill>
            <a:srgbClr val="0D1B2A"/>
          </a:solidFill>
          <a:ln w="12700">
            <a:solidFill>
              <a:srgbClr val="F0B429">
                <a:alpha val="38000"/>
              </a:srgbClr>
            </a:solidFill>
            <a:prstDash val="solid"/>
          </a:ln>
        </p:spPr>
        <p:txBody>
          <a:bodyPr/>
          <a:lstStyle/>
          <a:p>
            <a:endParaRPr lang="ja-JP" altLang="en-US"/>
          </a:p>
        </p:txBody>
      </p:sp>
      <p:sp>
        <p:nvSpPr>
          <p:cNvPr id="13" name="Text 11"/>
          <p:cNvSpPr/>
          <p:nvPr/>
        </p:nvSpPr>
        <p:spPr>
          <a:xfrm>
            <a:off x="320040" y="3282696"/>
            <a:ext cx="1783080" cy="384048"/>
          </a:xfrm>
          <a:prstGeom prst="rect">
            <a:avLst/>
          </a:prstGeom>
          <a:noFill/>
          <a:ln/>
        </p:spPr>
        <p:txBody>
          <a:bodyPr wrap="square" rtlCol="0" anchor="ctr"/>
          <a:lstStyle/>
          <a:p>
            <a:pPr marL="0" indent="0" algn="ctr">
              <a:buNone/>
            </a:pPr>
            <a:r>
              <a:rPr lang="en-US" sz="1800" dirty="0">
                <a:solidFill>
                  <a:srgbClr val="000000"/>
                </a:solidFill>
              </a:rPr>
              <a:t>🎮</a:t>
            </a:r>
            <a:endParaRPr lang="en-US" sz="1800" dirty="0"/>
          </a:p>
        </p:txBody>
      </p:sp>
      <p:sp>
        <p:nvSpPr>
          <p:cNvPr id="14" name="Text 12"/>
          <p:cNvSpPr/>
          <p:nvPr/>
        </p:nvSpPr>
        <p:spPr>
          <a:xfrm>
            <a:off x="320040" y="3648456"/>
            <a:ext cx="1783080" cy="219456"/>
          </a:xfrm>
          <a:prstGeom prst="rect">
            <a:avLst/>
          </a:prstGeom>
          <a:noFill/>
          <a:ln/>
        </p:spPr>
        <p:txBody>
          <a:bodyPr wrap="square" rtlCol="0" anchor="ctr"/>
          <a:lstStyle/>
          <a:p>
            <a:pPr marL="0" indent="0" algn="ctr">
              <a:buNone/>
            </a:pPr>
            <a:r>
              <a:rPr lang="en-US" sz="900" dirty="0">
                <a:solidFill>
                  <a:srgbClr val="8892A4"/>
                </a:solidFill>
              </a:rPr>
              <a:t>プラットフォーム</a:t>
            </a:r>
            <a:endParaRPr lang="en-US" sz="900" dirty="0"/>
          </a:p>
        </p:txBody>
      </p:sp>
      <p:sp>
        <p:nvSpPr>
          <p:cNvPr id="15" name="Text 13"/>
          <p:cNvSpPr/>
          <p:nvPr/>
        </p:nvSpPr>
        <p:spPr>
          <a:xfrm>
            <a:off x="320040" y="3858768"/>
            <a:ext cx="1783080" cy="512064"/>
          </a:xfrm>
          <a:prstGeom prst="rect">
            <a:avLst/>
          </a:prstGeom>
          <a:noFill/>
          <a:ln/>
        </p:spPr>
        <p:txBody>
          <a:bodyPr wrap="square" rtlCol="0" anchor="t"/>
          <a:lstStyle/>
          <a:p>
            <a:pPr marL="0" indent="0" algn="ctr">
              <a:buNone/>
            </a:pPr>
            <a:r>
              <a:rPr lang="en-US" sz="950" b="1" dirty="0">
                <a:solidFill>
                  <a:srgbClr val="FFFFFF"/>
                </a:solidFill>
              </a:rPr>
              <a:t>Switch / PC / Android / iOS</a:t>
            </a:r>
            <a:endParaRPr lang="en-US" sz="950" dirty="0"/>
          </a:p>
        </p:txBody>
      </p:sp>
      <p:sp>
        <p:nvSpPr>
          <p:cNvPr id="16" name="Shape 14"/>
          <p:cNvSpPr/>
          <p:nvPr/>
        </p:nvSpPr>
        <p:spPr>
          <a:xfrm>
            <a:off x="2125980" y="3246120"/>
            <a:ext cx="1783080" cy="1234440"/>
          </a:xfrm>
          <a:prstGeom prst="rect">
            <a:avLst/>
          </a:prstGeom>
          <a:solidFill>
            <a:srgbClr val="0D1B2A"/>
          </a:solidFill>
          <a:ln w="12700">
            <a:solidFill>
              <a:srgbClr val="F0B429">
                <a:alpha val="38000"/>
              </a:srgbClr>
            </a:solidFill>
            <a:prstDash val="solid"/>
          </a:ln>
        </p:spPr>
        <p:txBody>
          <a:bodyPr/>
          <a:lstStyle/>
          <a:p>
            <a:endParaRPr lang="ja-JP" altLang="en-US"/>
          </a:p>
        </p:txBody>
      </p:sp>
      <p:sp>
        <p:nvSpPr>
          <p:cNvPr id="17" name="Text 15"/>
          <p:cNvSpPr/>
          <p:nvPr/>
        </p:nvSpPr>
        <p:spPr>
          <a:xfrm>
            <a:off x="2125980" y="3282696"/>
            <a:ext cx="1783080" cy="384048"/>
          </a:xfrm>
          <a:prstGeom prst="rect">
            <a:avLst/>
          </a:prstGeom>
          <a:noFill/>
          <a:ln/>
        </p:spPr>
        <p:txBody>
          <a:bodyPr wrap="square" rtlCol="0" anchor="ctr"/>
          <a:lstStyle/>
          <a:p>
            <a:pPr marL="0" indent="0" algn="ctr">
              <a:buNone/>
            </a:pPr>
            <a:r>
              <a:rPr lang="en-US" sz="1800" dirty="0">
                <a:solidFill>
                  <a:srgbClr val="000000"/>
                </a:solidFill>
              </a:rPr>
              <a:t>⏱</a:t>
            </a:r>
            <a:endParaRPr lang="en-US" sz="1800" dirty="0"/>
          </a:p>
        </p:txBody>
      </p:sp>
      <p:sp>
        <p:nvSpPr>
          <p:cNvPr id="18" name="Text 16"/>
          <p:cNvSpPr/>
          <p:nvPr/>
        </p:nvSpPr>
        <p:spPr>
          <a:xfrm>
            <a:off x="2125980" y="3648456"/>
            <a:ext cx="1783080" cy="219456"/>
          </a:xfrm>
          <a:prstGeom prst="rect">
            <a:avLst/>
          </a:prstGeom>
          <a:noFill/>
          <a:ln/>
        </p:spPr>
        <p:txBody>
          <a:bodyPr wrap="square" rtlCol="0" anchor="ctr"/>
          <a:lstStyle/>
          <a:p>
            <a:pPr marL="0" indent="0" algn="ctr">
              <a:buNone/>
            </a:pPr>
            <a:r>
              <a:rPr lang="en-US" sz="900" dirty="0">
                <a:solidFill>
                  <a:srgbClr val="8892A4"/>
                </a:solidFill>
              </a:rPr>
              <a:t>プレイ時間</a:t>
            </a:r>
            <a:endParaRPr lang="en-US" sz="900" dirty="0"/>
          </a:p>
        </p:txBody>
      </p:sp>
      <p:sp>
        <p:nvSpPr>
          <p:cNvPr id="19" name="Text 17"/>
          <p:cNvSpPr/>
          <p:nvPr/>
        </p:nvSpPr>
        <p:spPr>
          <a:xfrm>
            <a:off x="2125980" y="3858768"/>
            <a:ext cx="1783080" cy="512064"/>
          </a:xfrm>
          <a:prstGeom prst="rect">
            <a:avLst/>
          </a:prstGeom>
          <a:noFill/>
          <a:ln/>
        </p:spPr>
        <p:txBody>
          <a:bodyPr wrap="square" rtlCol="0" anchor="t"/>
          <a:lstStyle/>
          <a:p>
            <a:pPr marL="0" indent="0" algn="ctr">
              <a:buNone/>
            </a:pPr>
            <a:r>
              <a:rPr lang="en-US" sz="950" b="1" dirty="0">
                <a:solidFill>
                  <a:srgbClr val="FFFFFF"/>
                </a:solidFill>
              </a:rPr>
              <a:t>約</a:t>
            </a:r>
            <a:r>
              <a:rPr lang="ja-JP" altLang="en-US" sz="950" b="1" dirty="0">
                <a:solidFill>
                  <a:srgbClr val="FFFFFF"/>
                </a:solidFill>
              </a:rPr>
              <a:t>２０</a:t>
            </a:r>
            <a:r>
              <a:rPr lang="en-US" sz="950" b="1" dirty="0">
                <a:solidFill>
                  <a:srgbClr val="FFFFFF"/>
                </a:solidFill>
              </a:rPr>
              <a:t>〜</a:t>
            </a:r>
            <a:r>
              <a:rPr lang="ja-JP" altLang="en-US" sz="950" b="1" dirty="0">
                <a:solidFill>
                  <a:srgbClr val="FFFFFF"/>
                </a:solidFill>
              </a:rPr>
              <a:t>５</a:t>
            </a:r>
            <a:r>
              <a:rPr lang="en-US" sz="950" b="1" dirty="0">
                <a:solidFill>
                  <a:srgbClr val="FFFFFF"/>
                </a:solidFill>
              </a:rPr>
              <a:t>0時間</a:t>
            </a:r>
            <a:endParaRPr lang="en-US" sz="950" dirty="0"/>
          </a:p>
        </p:txBody>
      </p:sp>
      <p:sp>
        <p:nvSpPr>
          <p:cNvPr id="20" name="Shape 18"/>
          <p:cNvSpPr/>
          <p:nvPr/>
        </p:nvSpPr>
        <p:spPr>
          <a:xfrm>
            <a:off x="3931920" y="3246120"/>
            <a:ext cx="1783080" cy="1234440"/>
          </a:xfrm>
          <a:prstGeom prst="rect">
            <a:avLst/>
          </a:prstGeom>
          <a:solidFill>
            <a:srgbClr val="0D1B2A"/>
          </a:solidFill>
          <a:ln w="12700">
            <a:solidFill>
              <a:srgbClr val="F0B429">
                <a:alpha val="38000"/>
              </a:srgbClr>
            </a:solidFill>
            <a:prstDash val="solid"/>
          </a:ln>
        </p:spPr>
        <p:txBody>
          <a:bodyPr/>
          <a:lstStyle/>
          <a:p>
            <a:endParaRPr lang="ja-JP" altLang="en-US"/>
          </a:p>
        </p:txBody>
      </p:sp>
      <p:sp>
        <p:nvSpPr>
          <p:cNvPr id="21" name="Text 19"/>
          <p:cNvSpPr/>
          <p:nvPr/>
        </p:nvSpPr>
        <p:spPr>
          <a:xfrm>
            <a:off x="3931920" y="3282696"/>
            <a:ext cx="1783080" cy="384048"/>
          </a:xfrm>
          <a:prstGeom prst="rect">
            <a:avLst/>
          </a:prstGeom>
          <a:noFill/>
          <a:ln/>
        </p:spPr>
        <p:txBody>
          <a:bodyPr wrap="square" rtlCol="0" anchor="ctr"/>
          <a:lstStyle/>
          <a:p>
            <a:pPr marL="0" indent="0" algn="ctr">
              <a:buNone/>
            </a:pPr>
            <a:r>
              <a:rPr lang="ja-JP" altLang="en-US" sz="1800" dirty="0">
                <a:solidFill>
                  <a:srgbClr val="000000"/>
                </a:solidFill>
              </a:rPr>
              <a:t>💸</a:t>
            </a:r>
            <a:endParaRPr lang="en-US" sz="1800" dirty="0"/>
          </a:p>
        </p:txBody>
      </p:sp>
      <p:sp>
        <p:nvSpPr>
          <p:cNvPr id="22" name="Text 20"/>
          <p:cNvSpPr/>
          <p:nvPr/>
        </p:nvSpPr>
        <p:spPr>
          <a:xfrm>
            <a:off x="3931920" y="3648456"/>
            <a:ext cx="1783080" cy="219456"/>
          </a:xfrm>
          <a:prstGeom prst="rect">
            <a:avLst/>
          </a:prstGeom>
          <a:noFill/>
          <a:ln/>
        </p:spPr>
        <p:txBody>
          <a:bodyPr wrap="square" rtlCol="0" anchor="ctr"/>
          <a:lstStyle/>
          <a:p>
            <a:pPr marL="0" indent="0" algn="ctr">
              <a:buNone/>
            </a:pPr>
            <a:r>
              <a:rPr lang="ja-JP" altLang="en-US" sz="900" dirty="0">
                <a:solidFill>
                  <a:srgbClr val="8892A4"/>
                </a:solidFill>
              </a:rPr>
              <a:t>値段</a:t>
            </a:r>
            <a:endParaRPr lang="en-US" sz="900" dirty="0"/>
          </a:p>
        </p:txBody>
      </p:sp>
      <p:sp>
        <p:nvSpPr>
          <p:cNvPr id="23" name="Text 21"/>
          <p:cNvSpPr/>
          <p:nvPr/>
        </p:nvSpPr>
        <p:spPr>
          <a:xfrm>
            <a:off x="3931920" y="3858768"/>
            <a:ext cx="1783080" cy="512064"/>
          </a:xfrm>
          <a:prstGeom prst="rect">
            <a:avLst/>
          </a:prstGeom>
          <a:noFill/>
          <a:ln/>
        </p:spPr>
        <p:txBody>
          <a:bodyPr wrap="square" rtlCol="0" anchor="t"/>
          <a:lstStyle/>
          <a:p>
            <a:pPr marL="0" indent="0" algn="ctr">
              <a:buNone/>
            </a:pPr>
            <a:r>
              <a:rPr lang="en-US" altLang="ja-JP" sz="950" b="1" dirty="0">
                <a:solidFill>
                  <a:srgbClr val="FFFFFF"/>
                </a:solidFill>
              </a:rPr>
              <a:t>1</a:t>
            </a:r>
            <a:r>
              <a:rPr lang="ja-JP" altLang="en-US" sz="950" b="1" dirty="0">
                <a:solidFill>
                  <a:srgbClr val="FFFFFF"/>
                </a:solidFill>
              </a:rPr>
              <a:t>５００円</a:t>
            </a:r>
            <a:endParaRPr lang="en-US" sz="950" dirty="0"/>
          </a:p>
        </p:txBody>
      </p:sp>
      <p:sp>
        <p:nvSpPr>
          <p:cNvPr id="24" name="Text 22"/>
          <p:cNvSpPr/>
          <p:nvPr/>
        </p:nvSpPr>
        <p:spPr>
          <a:xfrm>
            <a:off x="6035040" y="1801368"/>
            <a:ext cx="2880360" cy="256032"/>
          </a:xfrm>
          <a:prstGeom prst="rect">
            <a:avLst/>
          </a:prstGeom>
          <a:noFill/>
          <a:ln/>
        </p:spPr>
        <p:txBody>
          <a:bodyPr wrap="square" rtlCol="0" anchor="ctr"/>
          <a:lstStyle/>
          <a:p>
            <a:pPr marL="0" indent="0">
              <a:buNone/>
            </a:pPr>
            <a:r>
              <a:rPr lang="en-US" sz="1000" b="1" dirty="0">
                <a:solidFill>
                  <a:srgbClr val="8892A4"/>
                </a:solidFill>
              </a:rPr>
              <a:t>タグ</a:t>
            </a:r>
            <a:endParaRPr lang="en-US" sz="1000" dirty="0"/>
          </a:p>
        </p:txBody>
      </p:sp>
      <p:sp>
        <p:nvSpPr>
          <p:cNvPr id="25" name="Shape 23"/>
          <p:cNvSpPr/>
          <p:nvPr/>
        </p:nvSpPr>
        <p:spPr>
          <a:xfrm>
            <a:off x="6035040" y="2057400"/>
            <a:ext cx="2880360" cy="329184"/>
          </a:xfrm>
          <a:prstGeom prst="rect">
            <a:avLst/>
          </a:prstGeom>
          <a:solidFill>
            <a:srgbClr val="F0B429">
              <a:alpha val="20000"/>
            </a:srgbClr>
          </a:solidFill>
          <a:ln w="12700">
            <a:solidFill>
              <a:srgbClr val="F0B429">
                <a:alpha val="38000"/>
              </a:srgbClr>
            </a:solidFill>
            <a:prstDash val="solid"/>
          </a:ln>
        </p:spPr>
        <p:txBody>
          <a:bodyPr/>
          <a:lstStyle/>
          <a:p>
            <a:endParaRPr lang="ja-JP" altLang="en-US"/>
          </a:p>
        </p:txBody>
      </p:sp>
      <p:sp>
        <p:nvSpPr>
          <p:cNvPr id="26" name="Text 24"/>
          <p:cNvSpPr/>
          <p:nvPr/>
        </p:nvSpPr>
        <p:spPr>
          <a:xfrm>
            <a:off x="6035040" y="2057400"/>
            <a:ext cx="2880360" cy="329184"/>
          </a:xfrm>
          <a:prstGeom prst="rect">
            <a:avLst/>
          </a:prstGeom>
          <a:noFill/>
          <a:ln/>
        </p:spPr>
        <p:txBody>
          <a:bodyPr wrap="square" lIns="0" tIns="0" rIns="0" bIns="0" rtlCol="0" anchor="ctr"/>
          <a:lstStyle/>
          <a:p>
            <a:pPr marL="0" indent="0" algn="ctr">
              <a:buNone/>
            </a:pPr>
            <a:r>
              <a:rPr lang="en-US" sz="1100" b="1" dirty="0">
                <a:solidFill>
                  <a:srgbClr val="F0B429"/>
                </a:solidFill>
              </a:rPr>
              <a:t># ルール改変パズル</a:t>
            </a:r>
            <a:endParaRPr lang="en-US" sz="1100" dirty="0"/>
          </a:p>
        </p:txBody>
      </p:sp>
      <p:sp>
        <p:nvSpPr>
          <p:cNvPr id="27" name="Shape 25"/>
          <p:cNvSpPr/>
          <p:nvPr/>
        </p:nvSpPr>
        <p:spPr>
          <a:xfrm>
            <a:off x="6035040" y="2450592"/>
            <a:ext cx="2880360" cy="329184"/>
          </a:xfrm>
          <a:prstGeom prst="rect">
            <a:avLst/>
          </a:prstGeom>
          <a:solidFill>
            <a:srgbClr val="F0B429">
              <a:alpha val="20000"/>
            </a:srgbClr>
          </a:solidFill>
          <a:ln w="12700">
            <a:solidFill>
              <a:srgbClr val="F0B429">
                <a:alpha val="38000"/>
              </a:srgbClr>
            </a:solidFill>
            <a:prstDash val="solid"/>
          </a:ln>
        </p:spPr>
        <p:txBody>
          <a:bodyPr/>
          <a:lstStyle/>
          <a:p>
            <a:endParaRPr lang="ja-JP" altLang="en-US"/>
          </a:p>
        </p:txBody>
      </p:sp>
      <p:sp>
        <p:nvSpPr>
          <p:cNvPr id="28" name="Text 26"/>
          <p:cNvSpPr/>
          <p:nvPr/>
        </p:nvSpPr>
        <p:spPr>
          <a:xfrm>
            <a:off x="6035040" y="2450592"/>
            <a:ext cx="2880360" cy="329184"/>
          </a:xfrm>
          <a:prstGeom prst="rect">
            <a:avLst/>
          </a:prstGeom>
          <a:noFill/>
          <a:ln/>
        </p:spPr>
        <p:txBody>
          <a:bodyPr wrap="square" lIns="0" tIns="0" rIns="0" bIns="0" rtlCol="0" anchor="ctr"/>
          <a:lstStyle/>
          <a:p>
            <a:pPr marL="0" indent="0" algn="ctr">
              <a:buNone/>
            </a:pPr>
            <a:r>
              <a:rPr lang="en-US" sz="1100" b="1" dirty="0">
                <a:solidFill>
                  <a:srgbClr val="F0B429"/>
                </a:solidFill>
              </a:rPr>
              <a:t># 独創的</a:t>
            </a:r>
            <a:endParaRPr lang="en-US" sz="1100" dirty="0"/>
          </a:p>
        </p:txBody>
      </p:sp>
      <p:sp>
        <p:nvSpPr>
          <p:cNvPr id="29" name="Shape 27"/>
          <p:cNvSpPr/>
          <p:nvPr/>
        </p:nvSpPr>
        <p:spPr>
          <a:xfrm>
            <a:off x="6035040" y="2843784"/>
            <a:ext cx="2880360" cy="329184"/>
          </a:xfrm>
          <a:prstGeom prst="rect">
            <a:avLst/>
          </a:prstGeom>
          <a:solidFill>
            <a:srgbClr val="F0B429">
              <a:alpha val="20000"/>
            </a:srgbClr>
          </a:solidFill>
          <a:ln w="12700">
            <a:solidFill>
              <a:srgbClr val="F0B429">
                <a:alpha val="38000"/>
              </a:srgbClr>
            </a:solidFill>
            <a:prstDash val="solid"/>
          </a:ln>
        </p:spPr>
        <p:txBody>
          <a:bodyPr/>
          <a:lstStyle/>
          <a:p>
            <a:endParaRPr lang="ja-JP" altLang="en-US"/>
          </a:p>
        </p:txBody>
      </p:sp>
      <p:sp>
        <p:nvSpPr>
          <p:cNvPr id="30" name="Text 28"/>
          <p:cNvSpPr/>
          <p:nvPr/>
        </p:nvSpPr>
        <p:spPr>
          <a:xfrm>
            <a:off x="6035040" y="2843784"/>
            <a:ext cx="2880360" cy="329184"/>
          </a:xfrm>
          <a:prstGeom prst="rect">
            <a:avLst/>
          </a:prstGeom>
          <a:noFill/>
          <a:ln/>
        </p:spPr>
        <p:txBody>
          <a:bodyPr wrap="square" lIns="0" tIns="0" rIns="0" bIns="0" rtlCol="0" anchor="ctr"/>
          <a:lstStyle/>
          <a:p>
            <a:pPr marL="0" indent="0" algn="ctr">
              <a:buNone/>
            </a:pPr>
            <a:r>
              <a:rPr lang="en-US" sz="1100" b="1" dirty="0">
                <a:solidFill>
                  <a:srgbClr val="F0B429"/>
                </a:solidFill>
              </a:rPr>
              <a:t># 脳が溶ける</a:t>
            </a:r>
            <a:endParaRPr lang="en-US" sz="1100" dirty="0"/>
          </a:p>
        </p:txBody>
      </p:sp>
      <p:sp>
        <p:nvSpPr>
          <p:cNvPr id="31" name="Shape 29"/>
          <p:cNvSpPr/>
          <p:nvPr/>
        </p:nvSpPr>
        <p:spPr>
          <a:xfrm>
            <a:off x="0" y="4846320"/>
            <a:ext cx="9144000" cy="297180"/>
          </a:xfrm>
          <a:prstGeom prst="rect">
            <a:avLst/>
          </a:prstGeom>
          <a:solidFill>
            <a:srgbClr val="0A0A14"/>
          </a:solidFill>
          <a:ln w="12700">
            <a:solidFill>
              <a:srgbClr val="0A0A14"/>
            </a:solidFill>
            <a:prstDash val="solid"/>
          </a:ln>
        </p:spPr>
        <p:txBody>
          <a:bodyPr/>
          <a:lstStyle/>
          <a:p>
            <a:endParaRPr lang="ja-JP" altLang="en-US"/>
          </a:p>
        </p:txBody>
      </p:sp>
      <p:sp>
        <p:nvSpPr>
          <p:cNvPr id="32" name="Shape 30"/>
          <p:cNvSpPr/>
          <p:nvPr/>
        </p:nvSpPr>
        <p:spPr>
          <a:xfrm>
            <a:off x="4023360" y="4960620"/>
            <a:ext cx="109728" cy="109728"/>
          </a:xfrm>
          <a:prstGeom prst="ellipse">
            <a:avLst/>
          </a:prstGeom>
          <a:solidFill>
            <a:srgbClr val="3D4450"/>
          </a:solidFill>
          <a:ln w="12700">
            <a:solidFill>
              <a:srgbClr val="3D4450"/>
            </a:solidFill>
            <a:prstDash val="solid"/>
          </a:ln>
        </p:spPr>
        <p:txBody>
          <a:bodyPr/>
          <a:lstStyle/>
          <a:p>
            <a:endParaRPr lang="ja-JP" altLang="en-US"/>
          </a:p>
        </p:txBody>
      </p:sp>
      <p:sp>
        <p:nvSpPr>
          <p:cNvPr id="33" name="Shape 31"/>
          <p:cNvSpPr/>
          <p:nvPr/>
        </p:nvSpPr>
        <p:spPr>
          <a:xfrm>
            <a:off x="4224528" y="4960620"/>
            <a:ext cx="109728" cy="109728"/>
          </a:xfrm>
          <a:prstGeom prst="ellipse">
            <a:avLst/>
          </a:prstGeom>
          <a:solidFill>
            <a:srgbClr val="3D4450"/>
          </a:solidFill>
          <a:ln w="12700">
            <a:solidFill>
              <a:srgbClr val="3D4450"/>
            </a:solidFill>
            <a:prstDash val="solid"/>
          </a:ln>
        </p:spPr>
        <p:txBody>
          <a:bodyPr/>
          <a:lstStyle/>
          <a:p>
            <a:endParaRPr lang="ja-JP" altLang="en-US"/>
          </a:p>
        </p:txBody>
      </p:sp>
      <p:sp>
        <p:nvSpPr>
          <p:cNvPr id="34" name="Shape 32"/>
          <p:cNvSpPr/>
          <p:nvPr/>
        </p:nvSpPr>
        <p:spPr>
          <a:xfrm>
            <a:off x="4425696" y="4960620"/>
            <a:ext cx="109728" cy="109728"/>
          </a:xfrm>
          <a:prstGeom prst="ellipse">
            <a:avLst/>
          </a:prstGeom>
          <a:solidFill>
            <a:srgbClr val="3D4450"/>
          </a:solidFill>
          <a:ln w="12700">
            <a:solidFill>
              <a:srgbClr val="3D4450"/>
            </a:solidFill>
            <a:prstDash val="solid"/>
          </a:ln>
        </p:spPr>
        <p:txBody>
          <a:bodyPr/>
          <a:lstStyle/>
          <a:p>
            <a:endParaRPr lang="ja-JP" altLang="en-US"/>
          </a:p>
        </p:txBody>
      </p:sp>
      <p:sp>
        <p:nvSpPr>
          <p:cNvPr id="35" name="Shape 33"/>
          <p:cNvSpPr/>
          <p:nvPr/>
        </p:nvSpPr>
        <p:spPr>
          <a:xfrm>
            <a:off x="4626864" y="4960620"/>
            <a:ext cx="109728" cy="109728"/>
          </a:xfrm>
          <a:prstGeom prst="ellipse">
            <a:avLst/>
          </a:prstGeom>
          <a:solidFill>
            <a:srgbClr val="F0B429"/>
          </a:solidFill>
          <a:ln w="12700">
            <a:solidFill>
              <a:srgbClr val="F0B429"/>
            </a:solidFill>
            <a:prstDash val="solid"/>
          </a:ln>
        </p:spPr>
        <p:txBody>
          <a:bodyPr/>
          <a:lstStyle/>
          <a:p>
            <a:endParaRPr lang="ja-JP" altLang="en-US"/>
          </a:p>
        </p:txBody>
      </p:sp>
      <p:sp>
        <p:nvSpPr>
          <p:cNvPr id="36" name="Shape 34"/>
          <p:cNvSpPr/>
          <p:nvPr/>
        </p:nvSpPr>
        <p:spPr>
          <a:xfrm>
            <a:off x="4828032" y="4960620"/>
            <a:ext cx="109728" cy="109728"/>
          </a:xfrm>
          <a:prstGeom prst="ellipse">
            <a:avLst/>
          </a:prstGeom>
          <a:solidFill>
            <a:srgbClr val="3D4450"/>
          </a:solidFill>
          <a:ln w="12700">
            <a:solidFill>
              <a:srgbClr val="3D4450"/>
            </a:solidFill>
            <a:prstDash val="solid"/>
          </a:ln>
        </p:spPr>
        <p:txBody>
          <a:bodyPr/>
          <a:lstStyle/>
          <a:p>
            <a:endParaRPr lang="ja-JP" altLang="en-US"/>
          </a:p>
        </p:txBody>
      </p:sp>
      <p:sp>
        <p:nvSpPr>
          <p:cNvPr id="37" name="Shape 35"/>
          <p:cNvSpPr/>
          <p:nvPr/>
        </p:nvSpPr>
        <p:spPr>
          <a:xfrm>
            <a:off x="5029200" y="4960620"/>
            <a:ext cx="109728" cy="109728"/>
          </a:xfrm>
          <a:prstGeom prst="ellipse">
            <a:avLst/>
          </a:prstGeom>
          <a:solidFill>
            <a:srgbClr val="3D4450"/>
          </a:solidFill>
          <a:ln w="12700">
            <a:solidFill>
              <a:srgbClr val="3D4450"/>
            </a:solidFill>
            <a:prstDash val="solid"/>
          </a:ln>
        </p:spPr>
        <p:txBody>
          <a:bodyPr/>
          <a:lstStyle/>
          <a:p>
            <a:endParaRPr lang="ja-JP" altLang="en-US"/>
          </a:p>
        </p:txBody>
      </p:sp>
      <p:sp>
        <p:nvSpPr>
          <p:cNvPr id="38" name="Text 36"/>
          <p:cNvSpPr/>
          <p:nvPr/>
        </p:nvSpPr>
        <p:spPr>
          <a:xfrm>
            <a:off x="7772400" y="4846320"/>
            <a:ext cx="1188720" cy="297180"/>
          </a:xfrm>
          <a:prstGeom prst="rect">
            <a:avLst/>
          </a:prstGeom>
          <a:noFill/>
          <a:ln/>
        </p:spPr>
        <p:txBody>
          <a:bodyPr wrap="square" rtlCol="0" anchor="ctr"/>
          <a:lstStyle/>
          <a:p>
            <a:pPr marL="0" indent="0" algn="ctr">
              <a:buNone/>
            </a:pPr>
            <a:r>
              <a:rPr lang="en-US" sz="1000" dirty="0">
                <a:solidFill>
                  <a:srgbClr val="8892A4"/>
                </a:solidFill>
              </a:rPr>
              <a:t>4 / 6</a:t>
            </a:r>
            <a:endParaRPr lang="en-US" sz="1000" dirty="0"/>
          </a:p>
        </p:txBody>
      </p:sp>
      <p:pic>
        <p:nvPicPr>
          <p:cNvPr id="40" name="図 39">
            <a:extLst>
              <a:ext uri="{FF2B5EF4-FFF2-40B4-BE49-F238E27FC236}">
                <a16:creationId xmlns:a16="http://schemas.microsoft.com/office/drawing/2014/main" id="{736D7104-F3C7-EAA1-6B80-F891A916F32C}"/>
              </a:ext>
            </a:extLst>
          </p:cNvPr>
          <p:cNvPicPr>
            <a:picLocks noChangeAspect="1"/>
          </p:cNvPicPr>
          <p:nvPr/>
        </p:nvPicPr>
        <p:blipFill>
          <a:blip r:embed="rId3"/>
          <a:srcRect l="15121" r="10470"/>
          <a:stretch>
            <a:fillRect/>
          </a:stretch>
        </p:blipFill>
        <p:spPr>
          <a:xfrm>
            <a:off x="5945824" y="1801368"/>
            <a:ext cx="3058792" cy="2333453"/>
          </a:xfrm>
          <a:prstGeom prst="rect">
            <a:avLst/>
          </a:prstGeom>
        </p:spPr>
      </p:pic>
      <p:pic>
        <p:nvPicPr>
          <p:cNvPr id="42" name="図 41">
            <a:extLst>
              <a:ext uri="{FF2B5EF4-FFF2-40B4-BE49-F238E27FC236}">
                <a16:creationId xmlns:a16="http://schemas.microsoft.com/office/drawing/2014/main" id="{E51DDDCA-FD7B-E060-C611-CFE332C73018}"/>
              </a:ext>
            </a:extLst>
          </p:cNvPr>
          <p:cNvPicPr>
            <a:picLocks noChangeAspect="1"/>
          </p:cNvPicPr>
          <p:nvPr/>
        </p:nvPicPr>
        <p:blipFill>
          <a:blip r:embed="rId4"/>
          <a:stretch>
            <a:fillRect/>
          </a:stretch>
        </p:blipFill>
        <p:spPr>
          <a:xfrm>
            <a:off x="5245624" y="110753"/>
            <a:ext cx="3486637" cy="1590897"/>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F0E17"/>
        </a:solidFill>
        <a:effectLst/>
      </p:bgPr>
    </p:bg>
    <p:spTree>
      <p:nvGrpSpPr>
        <p:cNvPr id="1" name=""/>
        <p:cNvGrpSpPr/>
        <p:nvPr/>
      </p:nvGrpSpPr>
      <p:grpSpPr>
        <a:xfrm>
          <a:off x="0" y="0"/>
          <a:ext cx="0" cy="0"/>
          <a:chOff x="0" y="0"/>
          <a:chExt cx="0" cy="0"/>
        </a:xfrm>
      </p:grpSpPr>
      <p:sp>
        <p:nvSpPr>
          <p:cNvPr id="2" name="Shape 0"/>
          <p:cNvSpPr/>
          <p:nvPr/>
        </p:nvSpPr>
        <p:spPr>
          <a:xfrm>
            <a:off x="4572000" y="-1828800"/>
            <a:ext cx="7315200" cy="7315200"/>
          </a:xfrm>
          <a:prstGeom prst="ellipse">
            <a:avLst/>
          </a:prstGeom>
          <a:solidFill>
            <a:srgbClr val="27AE60">
              <a:alpha val="8000"/>
            </a:srgbClr>
          </a:solidFill>
          <a:ln w="12700">
            <a:solidFill>
              <a:srgbClr val="27AE60">
                <a:alpha val="8000"/>
              </a:srgbClr>
            </a:solidFill>
            <a:prstDash val="solid"/>
          </a:ln>
        </p:spPr>
        <p:txBody>
          <a:bodyPr/>
          <a:lstStyle/>
          <a:p>
            <a:endParaRPr lang="ja-JP" altLang="en-US"/>
          </a:p>
        </p:txBody>
      </p:sp>
      <p:sp>
        <p:nvSpPr>
          <p:cNvPr id="3" name="Shape 1"/>
          <p:cNvSpPr/>
          <p:nvPr/>
        </p:nvSpPr>
        <p:spPr>
          <a:xfrm>
            <a:off x="0" y="0"/>
            <a:ext cx="164592" cy="5143500"/>
          </a:xfrm>
          <a:prstGeom prst="rect">
            <a:avLst/>
          </a:prstGeom>
          <a:solidFill>
            <a:srgbClr val="27AE60"/>
          </a:solidFill>
          <a:ln w="12700">
            <a:solidFill>
              <a:srgbClr val="27AE60"/>
            </a:solidFill>
            <a:prstDash val="solid"/>
          </a:ln>
        </p:spPr>
        <p:txBody>
          <a:bodyPr/>
          <a:lstStyle/>
          <a:p>
            <a:endParaRPr lang="ja-JP" altLang="en-US"/>
          </a:p>
        </p:txBody>
      </p:sp>
      <p:sp>
        <p:nvSpPr>
          <p:cNvPr id="4" name="Shape 2"/>
          <p:cNvSpPr/>
          <p:nvPr/>
        </p:nvSpPr>
        <p:spPr>
          <a:xfrm>
            <a:off x="320040" y="256032"/>
            <a:ext cx="658368" cy="658368"/>
          </a:xfrm>
          <a:prstGeom prst="rect">
            <a:avLst/>
          </a:prstGeom>
          <a:solidFill>
            <a:srgbClr val="27AE60"/>
          </a:solidFill>
          <a:ln w="12700">
            <a:solidFill>
              <a:srgbClr val="27AE60"/>
            </a:solidFill>
            <a:prstDash val="solid"/>
          </a:ln>
        </p:spPr>
        <p:txBody>
          <a:bodyPr/>
          <a:lstStyle/>
          <a:p>
            <a:endParaRPr lang="ja-JP" altLang="en-US"/>
          </a:p>
        </p:txBody>
      </p:sp>
      <p:sp>
        <p:nvSpPr>
          <p:cNvPr id="5" name="Text 3"/>
          <p:cNvSpPr/>
          <p:nvPr/>
        </p:nvSpPr>
        <p:spPr>
          <a:xfrm>
            <a:off x="320040" y="256032"/>
            <a:ext cx="658368" cy="658368"/>
          </a:xfrm>
          <a:prstGeom prst="rect">
            <a:avLst/>
          </a:prstGeom>
          <a:noFill/>
          <a:ln/>
        </p:spPr>
        <p:txBody>
          <a:bodyPr wrap="square" lIns="0" tIns="0" rIns="0" bIns="0" rtlCol="0" anchor="ctr"/>
          <a:lstStyle/>
          <a:p>
            <a:pPr marL="0" indent="0" algn="ctr">
              <a:buNone/>
            </a:pPr>
            <a:r>
              <a:rPr lang="en-US" sz="2200" b="1" dirty="0">
                <a:solidFill>
                  <a:srgbClr val="0F0E17"/>
                </a:solidFill>
                <a:latin typeface="Arial Black" pitchFamily="34" charset="0"/>
                <a:ea typeface="Arial Black" pitchFamily="34" charset="-122"/>
                <a:cs typeface="Arial Black" pitchFamily="34" charset="-120"/>
              </a:rPr>
              <a:t>5</a:t>
            </a:r>
            <a:endParaRPr lang="en-US" sz="2200" dirty="0"/>
          </a:p>
        </p:txBody>
      </p:sp>
      <p:sp>
        <p:nvSpPr>
          <p:cNvPr id="6" name="Shape 4"/>
          <p:cNvSpPr/>
          <p:nvPr/>
        </p:nvSpPr>
        <p:spPr>
          <a:xfrm>
            <a:off x="1115568" y="301752"/>
            <a:ext cx="2377440" cy="347472"/>
          </a:xfrm>
          <a:prstGeom prst="roundRect">
            <a:avLst>
              <a:gd name="adj" fmla="val 21053"/>
            </a:avLst>
          </a:prstGeom>
          <a:solidFill>
            <a:srgbClr val="27AE60">
              <a:alpha val="25000"/>
            </a:srgbClr>
          </a:solidFill>
          <a:ln w="12700">
            <a:solidFill>
              <a:srgbClr val="27AE60">
                <a:alpha val="55000"/>
              </a:srgbClr>
            </a:solidFill>
            <a:prstDash val="solid"/>
          </a:ln>
        </p:spPr>
        <p:txBody>
          <a:bodyPr/>
          <a:lstStyle/>
          <a:p>
            <a:endParaRPr lang="ja-JP" altLang="en-US"/>
          </a:p>
        </p:txBody>
      </p:sp>
      <p:sp>
        <p:nvSpPr>
          <p:cNvPr id="7" name="Text 5"/>
          <p:cNvSpPr/>
          <p:nvPr/>
        </p:nvSpPr>
        <p:spPr>
          <a:xfrm>
            <a:off x="1115568" y="301752"/>
            <a:ext cx="2377440" cy="347472"/>
          </a:xfrm>
          <a:prstGeom prst="rect">
            <a:avLst/>
          </a:prstGeom>
          <a:noFill/>
          <a:ln/>
        </p:spPr>
        <p:txBody>
          <a:bodyPr wrap="square" lIns="0" tIns="0" rIns="0" bIns="0" rtlCol="0" anchor="ctr"/>
          <a:lstStyle/>
          <a:p>
            <a:pPr marL="0" indent="0" algn="ctr">
              <a:buNone/>
            </a:pPr>
            <a:r>
              <a:rPr lang="en-US" sz="1100" b="1" dirty="0">
                <a:solidFill>
                  <a:srgbClr val="27AE60"/>
                </a:solidFill>
              </a:rPr>
              <a:t>探索・パズル</a:t>
            </a:r>
            <a:endParaRPr lang="en-US" sz="1100" dirty="0"/>
          </a:p>
        </p:txBody>
      </p:sp>
      <p:sp>
        <p:nvSpPr>
          <p:cNvPr id="8" name="Text 6"/>
          <p:cNvSpPr/>
          <p:nvPr/>
        </p:nvSpPr>
        <p:spPr>
          <a:xfrm>
            <a:off x="7132320" y="137160"/>
            <a:ext cx="1737360" cy="1737360"/>
          </a:xfrm>
          <a:prstGeom prst="rect">
            <a:avLst/>
          </a:prstGeom>
          <a:noFill/>
          <a:ln/>
        </p:spPr>
        <p:txBody>
          <a:bodyPr wrap="square" rtlCol="0" anchor="ctr"/>
          <a:lstStyle/>
          <a:p>
            <a:pPr marL="0" indent="0" algn="ctr">
              <a:buNone/>
            </a:pPr>
            <a:r>
              <a:rPr lang="en-US" sz="7200" dirty="0">
                <a:solidFill>
                  <a:srgbClr val="000000"/>
                </a:solidFill>
              </a:rPr>
              <a:t>🏝️</a:t>
            </a:r>
            <a:endParaRPr lang="en-US" sz="7200" dirty="0"/>
          </a:p>
        </p:txBody>
      </p:sp>
      <p:sp>
        <p:nvSpPr>
          <p:cNvPr id="9" name="Text 7"/>
          <p:cNvSpPr/>
          <p:nvPr/>
        </p:nvSpPr>
        <p:spPr>
          <a:xfrm>
            <a:off x="320040" y="804672"/>
            <a:ext cx="6583680" cy="868680"/>
          </a:xfrm>
          <a:prstGeom prst="rect">
            <a:avLst/>
          </a:prstGeom>
          <a:noFill/>
          <a:ln/>
        </p:spPr>
        <p:txBody>
          <a:bodyPr wrap="square" rtlCol="0" anchor="ctr"/>
          <a:lstStyle/>
          <a:p>
            <a:pPr marL="0" indent="0">
              <a:buNone/>
            </a:pPr>
            <a:r>
              <a:rPr lang="en-US" sz="3600" b="1" dirty="0">
                <a:solidFill>
                  <a:srgbClr val="FFFFFF"/>
                </a:solidFill>
                <a:latin typeface="Arial Black" pitchFamily="34" charset="0"/>
                <a:ea typeface="Arial Black" pitchFamily="34" charset="-122"/>
                <a:cs typeface="Arial Black" pitchFamily="34" charset="-120"/>
              </a:rPr>
              <a:t>The Witness</a:t>
            </a:r>
            <a:endParaRPr lang="en-US" sz="3600" dirty="0"/>
          </a:p>
        </p:txBody>
      </p:sp>
      <p:sp>
        <p:nvSpPr>
          <p:cNvPr id="10" name="Shape 8"/>
          <p:cNvSpPr/>
          <p:nvPr/>
        </p:nvSpPr>
        <p:spPr>
          <a:xfrm>
            <a:off x="320040" y="1755648"/>
            <a:ext cx="5577840" cy="1371600"/>
          </a:xfrm>
          <a:prstGeom prst="rect">
            <a:avLst/>
          </a:prstGeom>
          <a:solidFill>
            <a:srgbClr val="16213E"/>
          </a:solidFill>
          <a:ln w="12700">
            <a:solidFill>
              <a:srgbClr val="27AE60">
                <a:alpha val="32000"/>
              </a:srgbClr>
            </a:solidFill>
            <a:prstDash val="solid"/>
          </a:ln>
        </p:spPr>
        <p:txBody>
          <a:bodyPr/>
          <a:lstStyle/>
          <a:p>
            <a:endParaRPr lang="ja-JP" altLang="en-US"/>
          </a:p>
        </p:txBody>
      </p:sp>
      <p:sp>
        <p:nvSpPr>
          <p:cNvPr id="11" name="Text 9"/>
          <p:cNvSpPr/>
          <p:nvPr/>
        </p:nvSpPr>
        <p:spPr>
          <a:xfrm>
            <a:off x="502919" y="1801368"/>
            <a:ext cx="5317203" cy="1280160"/>
          </a:xfrm>
          <a:prstGeom prst="rect">
            <a:avLst/>
          </a:prstGeom>
          <a:noFill/>
          <a:ln/>
        </p:spPr>
        <p:txBody>
          <a:bodyPr wrap="square" rtlCol="0" anchor="ctr"/>
          <a:lstStyle/>
          <a:p>
            <a:pPr marL="0" indent="0">
              <a:buNone/>
            </a:pPr>
            <a:r>
              <a:rPr lang="en-US" sz="1300" dirty="0" err="1">
                <a:solidFill>
                  <a:srgbClr val="D1D5DB"/>
                </a:solidFill>
              </a:rPr>
              <a:t>美しい孤島を舞台に、ひたすら線を引くパズルを解く作品</a:t>
            </a:r>
            <a:r>
              <a:rPr lang="en-US" sz="1300" dirty="0">
                <a:solidFill>
                  <a:srgbClr val="D1D5DB"/>
                </a:solidFill>
              </a:rPr>
              <a:t>。</a:t>
            </a:r>
          </a:p>
          <a:p>
            <a:pPr marL="0" indent="0">
              <a:buNone/>
            </a:pPr>
            <a:r>
              <a:rPr lang="ja-JP" altLang="en-US" sz="1300" dirty="0">
                <a:solidFill>
                  <a:srgbClr val="D1D5DB"/>
                </a:solidFill>
              </a:rPr>
              <a:t>違和感のある地形を特定の角度から見るとパズルになっていることも。</a:t>
            </a:r>
            <a:endParaRPr lang="en-US" altLang="ja-JP" sz="1300" dirty="0">
              <a:solidFill>
                <a:srgbClr val="D1D5DB"/>
              </a:solidFill>
            </a:endParaRPr>
          </a:p>
          <a:p>
            <a:pPr marL="0" indent="0">
              <a:buNone/>
            </a:pPr>
            <a:r>
              <a:rPr lang="en-US" sz="1300" dirty="0" err="1">
                <a:solidFill>
                  <a:srgbClr val="D1D5DB"/>
                </a:solidFill>
              </a:rPr>
              <a:t>シンプル</a:t>
            </a:r>
            <a:r>
              <a:rPr lang="ja-JP" altLang="en-US" sz="1300" dirty="0">
                <a:solidFill>
                  <a:srgbClr val="D1D5DB"/>
                </a:solidFill>
              </a:rPr>
              <a:t>だが、プレイヤーを唸らせるトリックが多く仕込まれており、楽しくパズルを続けられる</a:t>
            </a:r>
            <a:r>
              <a:rPr lang="en-US" sz="1300" dirty="0">
                <a:solidFill>
                  <a:srgbClr val="D1D5DB"/>
                </a:solidFill>
              </a:rPr>
              <a:t>。</a:t>
            </a:r>
            <a:endParaRPr lang="en-US" sz="1300" dirty="0"/>
          </a:p>
        </p:txBody>
      </p:sp>
      <p:sp>
        <p:nvSpPr>
          <p:cNvPr id="12" name="Shape 10"/>
          <p:cNvSpPr/>
          <p:nvPr/>
        </p:nvSpPr>
        <p:spPr>
          <a:xfrm>
            <a:off x="320040" y="3246120"/>
            <a:ext cx="1783080" cy="1234440"/>
          </a:xfrm>
          <a:prstGeom prst="rect">
            <a:avLst/>
          </a:prstGeom>
          <a:solidFill>
            <a:srgbClr val="0D1B2A"/>
          </a:solidFill>
          <a:ln w="12700">
            <a:solidFill>
              <a:srgbClr val="27AE60">
                <a:alpha val="38000"/>
              </a:srgbClr>
            </a:solidFill>
            <a:prstDash val="solid"/>
          </a:ln>
        </p:spPr>
        <p:txBody>
          <a:bodyPr/>
          <a:lstStyle/>
          <a:p>
            <a:endParaRPr lang="ja-JP" altLang="en-US"/>
          </a:p>
        </p:txBody>
      </p:sp>
      <p:sp>
        <p:nvSpPr>
          <p:cNvPr id="13" name="Text 11"/>
          <p:cNvSpPr/>
          <p:nvPr/>
        </p:nvSpPr>
        <p:spPr>
          <a:xfrm>
            <a:off x="320040" y="3282696"/>
            <a:ext cx="1783080" cy="384048"/>
          </a:xfrm>
          <a:prstGeom prst="rect">
            <a:avLst/>
          </a:prstGeom>
          <a:noFill/>
          <a:ln/>
        </p:spPr>
        <p:txBody>
          <a:bodyPr wrap="square" rtlCol="0" anchor="ctr"/>
          <a:lstStyle/>
          <a:p>
            <a:pPr marL="0" indent="0" algn="ctr">
              <a:buNone/>
            </a:pPr>
            <a:r>
              <a:rPr lang="en-US" sz="1800" dirty="0">
                <a:solidFill>
                  <a:srgbClr val="000000"/>
                </a:solidFill>
              </a:rPr>
              <a:t>🎮</a:t>
            </a:r>
            <a:endParaRPr lang="en-US" sz="1800" dirty="0"/>
          </a:p>
        </p:txBody>
      </p:sp>
      <p:sp>
        <p:nvSpPr>
          <p:cNvPr id="14" name="Text 12"/>
          <p:cNvSpPr/>
          <p:nvPr/>
        </p:nvSpPr>
        <p:spPr>
          <a:xfrm>
            <a:off x="320040" y="3648456"/>
            <a:ext cx="1783080" cy="219456"/>
          </a:xfrm>
          <a:prstGeom prst="rect">
            <a:avLst/>
          </a:prstGeom>
          <a:noFill/>
          <a:ln/>
        </p:spPr>
        <p:txBody>
          <a:bodyPr wrap="square" rtlCol="0" anchor="ctr"/>
          <a:lstStyle/>
          <a:p>
            <a:pPr marL="0" indent="0" algn="ctr">
              <a:buNone/>
            </a:pPr>
            <a:r>
              <a:rPr lang="en-US" sz="900" dirty="0">
                <a:solidFill>
                  <a:srgbClr val="8892A4"/>
                </a:solidFill>
              </a:rPr>
              <a:t>プラットフォーム</a:t>
            </a:r>
            <a:endParaRPr lang="en-US" sz="900" dirty="0"/>
          </a:p>
        </p:txBody>
      </p:sp>
      <p:sp>
        <p:nvSpPr>
          <p:cNvPr id="15" name="Text 13"/>
          <p:cNvSpPr/>
          <p:nvPr/>
        </p:nvSpPr>
        <p:spPr>
          <a:xfrm>
            <a:off x="320040" y="3858768"/>
            <a:ext cx="1783080" cy="512064"/>
          </a:xfrm>
          <a:prstGeom prst="rect">
            <a:avLst/>
          </a:prstGeom>
          <a:noFill/>
          <a:ln/>
        </p:spPr>
        <p:txBody>
          <a:bodyPr wrap="square" rtlCol="0" anchor="t"/>
          <a:lstStyle/>
          <a:p>
            <a:pPr marL="0" indent="0" algn="ctr">
              <a:buNone/>
            </a:pPr>
            <a:r>
              <a:rPr lang="en-US" sz="950" b="1" dirty="0">
                <a:solidFill>
                  <a:srgbClr val="FFFFFF"/>
                </a:solidFill>
              </a:rPr>
              <a:t>PC / PS4 / iOS</a:t>
            </a:r>
            <a:endParaRPr lang="en-US" sz="950" dirty="0"/>
          </a:p>
        </p:txBody>
      </p:sp>
      <p:sp>
        <p:nvSpPr>
          <p:cNvPr id="16" name="Shape 14"/>
          <p:cNvSpPr/>
          <p:nvPr/>
        </p:nvSpPr>
        <p:spPr>
          <a:xfrm>
            <a:off x="2125980" y="3246120"/>
            <a:ext cx="1783080" cy="1234440"/>
          </a:xfrm>
          <a:prstGeom prst="rect">
            <a:avLst/>
          </a:prstGeom>
          <a:solidFill>
            <a:srgbClr val="0D1B2A"/>
          </a:solidFill>
          <a:ln w="12700">
            <a:solidFill>
              <a:srgbClr val="27AE60">
                <a:alpha val="38000"/>
              </a:srgbClr>
            </a:solidFill>
            <a:prstDash val="solid"/>
          </a:ln>
        </p:spPr>
        <p:txBody>
          <a:bodyPr/>
          <a:lstStyle/>
          <a:p>
            <a:endParaRPr lang="ja-JP" altLang="en-US"/>
          </a:p>
        </p:txBody>
      </p:sp>
      <p:sp>
        <p:nvSpPr>
          <p:cNvPr id="17" name="Text 15"/>
          <p:cNvSpPr/>
          <p:nvPr/>
        </p:nvSpPr>
        <p:spPr>
          <a:xfrm>
            <a:off x="2125980" y="3282696"/>
            <a:ext cx="1783080" cy="384048"/>
          </a:xfrm>
          <a:prstGeom prst="rect">
            <a:avLst/>
          </a:prstGeom>
          <a:noFill/>
          <a:ln/>
        </p:spPr>
        <p:txBody>
          <a:bodyPr wrap="square" rtlCol="0" anchor="ctr"/>
          <a:lstStyle/>
          <a:p>
            <a:pPr marL="0" indent="0" algn="ctr">
              <a:buNone/>
            </a:pPr>
            <a:r>
              <a:rPr lang="en-US" sz="1800" dirty="0">
                <a:solidFill>
                  <a:srgbClr val="000000"/>
                </a:solidFill>
              </a:rPr>
              <a:t>⏱</a:t>
            </a:r>
            <a:endParaRPr lang="en-US" sz="1800" dirty="0"/>
          </a:p>
        </p:txBody>
      </p:sp>
      <p:sp>
        <p:nvSpPr>
          <p:cNvPr id="18" name="Text 16"/>
          <p:cNvSpPr/>
          <p:nvPr/>
        </p:nvSpPr>
        <p:spPr>
          <a:xfrm>
            <a:off x="2125980" y="3648456"/>
            <a:ext cx="1783080" cy="219456"/>
          </a:xfrm>
          <a:prstGeom prst="rect">
            <a:avLst/>
          </a:prstGeom>
          <a:noFill/>
          <a:ln/>
        </p:spPr>
        <p:txBody>
          <a:bodyPr wrap="square" rtlCol="0" anchor="ctr"/>
          <a:lstStyle/>
          <a:p>
            <a:pPr marL="0" indent="0" algn="ctr">
              <a:buNone/>
            </a:pPr>
            <a:r>
              <a:rPr lang="en-US" sz="900" dirty="0">
                <a:solidFill>
                  <a:srgbClr val="8892A4"/>
                </a:solidFill>
              </a:rPr>
              <a:t>プレイ時間</a:t>
            </a:r>
            <a:endParaRPr lang="en-US" sz="900" dirty="0"/>
          </a:p>
        </p:txBody>
      </p:sp>
      <p:sp>
        <p:nvSpPr>
          <p:cNvPr id="19" name="Text 17"/>
          <p:cNvSpPr/>
          <p:nvPr/>
        </p:nvSpPr>
        <p:spPr>
          <a:xfrm>
            <a:off x="2125980" y="3858768"/>
            <a:ext cx="1783080" cy="512064"/>
          </a:xfrm>
          <a:prstGeom prst="rect">
            <a:avLst/>
          </a:prstGeom>
          <a:noFill/>
          <a:ln/>
        </p:spPr>
        <p:txBody>
          <a:bodyPr wrap="square" rtlCol="0" anchor="t"/>
          <a:lstStyle/>
          <a:p>
            <a:pPr marL="0" indent="0" algn="ctr">
              <a:buNone/>
            </a:pPr>
            <a:r>
              <a:rPr lang="en-US" sz="950" b="1" dirty="0">
                <a:solidFill>
                  <a:srgbClr val="FFFFFF"/>
                </a:solidFill>
              </a:rPr>
              <a:t>約20〜30時間</a:t>
            </a:r>
            <a:endParaRPr lang="en-US" sz="950" dirty="0"/>
          </a:p>
        </p:txBody>
      </p:sp>
      <p:sp>
        <p:nvSpPr>
          <p:cNvPr id="20" name="Shape 18"/>
          <p:cNvSpPr/>
          <p:nvPr/>
        </p:nvSpPr>
        <p:spPr>
          <a:xfrm>
            <a:off x="3931920" y="3246120"/>
            <a:ext cx="1783080" cy="1234440"/>
          </a:xfrm>
          <a:prstGeom prst="rect">
            <a:avLst/>
          </a:prstGeom>
          <a:solidFill>
            <a:srgbClr val="0D1B2A"/>
          </a:solidFill>
          <a:ln w="12700">
            <a:solidFill>
              <a:srgbClr val="27AE60">
                <a:alpha val="38000"/>
              </a:srgbClr>
            </a:solidFill>
            <a:prstDash val="solid"/>
          </a:ln>
        </p:spPr>
        <p:txBody>
          <a:bodyPr/>
          <a:lstStyle/>
          <a:p>
            <a:endParaRPr lang="ja-JP" altLang="en-US"/>
          </a:p>
        </p:txBody>
      </p:sp>
      <p:sp>
        <p:nvSpPr>
          <p:cNvPr id="21" name="Text 19"/>
          <p:cNvSpPr/>
          <p:nvPr/>
        </p:nvSpPr>
        <p:spPr>
          <a:xfrm>
            <a:off x="3931920" y="3282696"/>
            <a:ext cx="1783080" cy="384048"/>
          </a:xfrm>
          <a:prstGeom prst="rect">
            <a:avLst/>
          </a:prstGeom>
          <a:noFill/>
          <a:ln/>
        </p:spPr>
        <p:txBody>
          <a:bodyPr wrap="square" rtlCol="0" anchor="ctr"/>
          <a:lstStyle/>
          <a:p>
            <a:pPr marL="0" indent="0" algn="ctr">
              <a:buNone/>
            </a:pPr>
            <a:r>
              <a:rPr lang="ja-JP" altLang="en-US" sz="1800" dirty="0">
                <a:solidFill>
                  <a:srgbClr val="000000"/>
                </a:solidFill>
              </a:rPr>
              <a:t>💸</a:t>
            </a:r>
            <a:endParaRPr lang="en-US" sz="1800" dirty="0"/>
          </a:p>
        </p:txBody>
      </p:sp>
      <p:sp>
        <p:nvSpPr>
          <p:cNvPr id="22" name="Text 20"/>
          <p:cNvSpPr/>
          <p:nvPr/>
        </p:nvSpPr>
        <p:spPr>
          <a:xfrm>
            <a:off x="3931920" y="3648456"/>
            <a:ext cx="1783080" cy="219456"/>
          </a:xfrm>
          <a:prstGeom prst="rect">
            <a:avLst/>
          </a:prstGeom>
          <a:noFill/>
          <a:ln/>
        </p:spPr>
        <p:txBody>
          <a:bodyPr wrap="square" rtlCol="0" anchor="ctr"/>
          <a:lstStyle/>
          <a:p>
            <a:pPr marL="0" indent="0" algn="ctr">
              <a:buNone/>
            </a:pPr>
            <a:r>
              <a:rPr lang="ja-JP" altLang="en-US" sz="900" dirty="0">
                <a:solidFill>
                  <a:srgbClr val="8892A4"/>
                </a:solidFill>
              </a:rPr>
              <a:t>値段</a:t>
            </a:r>
            <a:endParaRPr lang="en-US" sz="900" dirty="0"/>
          </a:p>
        </p:txBody>
      </p:sp>
      <p:sp>
        <p:nvSpPr>
          <p:cNvPr id="23" name="Text 21"/>
          <p:cNvSpPr/>
          <p:nvPr/>
        </p:nvSpPr>
        <p:spPr>
          <a:xfrm>
            <a:off x="3931920" y="3858768"/>
            <a:ext cx="1783080" cy="512064"/>
          </a:xfrm>
          <a:prstGeom prst="rect">
            <a:avLst/>
          </a:prstGeom>
          <a:noFill/>
          <a:ln/>
        </p:spPr>
        <p:txBody>
          <a:bodyPr wrap="square" rtlCol="0" anchor="t"/>
          <a:lstStyle/>
          <a:p>
            <a:pPr marL="0" indent="0" algn="ctr">
              <a:buNone/>
            </a:pPr>
            <a:r>
              <a:rPr lang="en-US" sz="950" b="1" dirty="0">
                <a:solidFill>
                  <a:srgbClr val="FFFFFF"/>
                </a:solidFill>
              </a:rPr>
              <a:t>1000</a:t>
            </a:r>
            <a:r>
              <a:rPr lang="ja-JP" altLang="en-US" sz="950" b="1" dirty="0">
                <a:solidFill>
                  <a:srgbClr val="FFFFFF"/>
                </a:solidFill>
              </a:rPr>
              <a:t>～</a:t>
            </a:r>
            <a:r>
              <a:rPr lang="en-US" sz="950" b="1" dirty="0">
                <a:solidFill>
                  <a:srgbClr val="FFFFFF"/>
                </a:solidFill>
              </a:rPr>
              <a:t>4000</a:t>
            </a:r>
            <a:r>
              <a:rPr lang="ja-JP" altLang="en-US" sz="950" b="1" dirty="0">
                <a:solidFill>
                  <a:srgbClr val="FFFFFF"/>
                </a:solidFill>
              </a:rPr>
              <a:t>円</a:t>
            </a:r>
            <a:endParaRPr lang="en-US" altLang="ja-JP" sz="950" b="1" dirty="0">
              <a:solidFill>
                <a:srgbClr val="FFFFFF"/>
              </a:solidFill>
            </a:endParaRPr>
          </a:p>
          <a:p>
            <a:pPr marL="0" indent="0" algn="ctr">
              <a:buNone/>
            </a:pPr>
            <a:r>
              <a:rPr lang="en-US" altLang="ja-JP" sz="950" b="1" dirty="0">
                <a:solidFill>
                  <a:srgbClr val="FFFFFF"/>
                </a:solidFill>
              </a:rPr>
              <a:t>Steam</a:t>
            </a:r>
            <a:r>
              <a:rPr lang="ja-JP" altLang="en-US" sz="950" b="1" dirty="0">
                <a:solidFill>
                  <a:srgbClr val="FFFFFF"/>
                </a:solidFill>
              </a:rPr>
              <a:t>セールで値下げ中</a:t>
            </a:r>
            <a:endParaRPr lang="en-US" altLang="ja-JP" sz="950" b="1" dirty="0">
              <a:solidFill>
                <a:srgbClr val="FFFFFF"/>
              </a:solidFill>
            </a:endParaRPr>
          </a:p>
          <a:p>
            <a:pPr marL="0" indent="0" algn="ctr">
              <a:buNone/>
            </a:pPr>
            <a:r>
              <a:rPr lang="ja-JP" altLang="en-US" sz="950" b="1" dirty="0">
                <a:solidFill>
                  <a:srgbClr val="FFFFFF"/>
                </a:solidFill>
              </a:rPr>
              <a:t>～</a:t>
            </a:r>
            <a:r>
              <a:rPr lang="en-US" altLang="ja-JP" sz="950" b="1" dirty="0">
                <a:solidFill>
                  <a:srgbClr val="FFFFFF"/>
                </a:solidFill>
              </a:rPr>
              <a:t>5/1</a:t>
            </a:r>
            <a:endParaRPr lang="en-US" sz="950" dirty="0"/>
          </a:p>
        </p:txBody>
      </p:sp>
      <p:sp>
        <p:nvSpPr>
          <p:cNvPr id="24" name="Text 22"/>
          <p:cNvSpPr/>
          <p:nvPr/>
        </p:nvSpPr>
        <p:spPr>
          <a:xfrm>
            <a:off x="6035040" y="1801368"/>
            <a:ext cx="2880360" cy="256032"/>
          </a:xfrm>
          <a:prstGeom prst="rect">
            <a:avLst/>
          </a:prstGeom>
          <a:noFill/>
          <a:ln/>
        </p:spPr>
        <p:txBody>
          <a:bodyPr wrap="square" rtlCol="0" anchor="ctr"/>
          <a:lstStyle/>
          <a:p>
            <a:pPr marL="0" indent="0">
              <a:buNone/>
            </a:pPr>
            <a:r>
              <a:rPr lang="en-US" sz="1000" b="1" dirty="0">
                <a:solidFill>
                  <a:srgbClr val="8892A4"/>
                </a:solidFill>
              </a:rPr>
              <a:t>タグ</a:t>
            </a:r>
            <a:endParaRPr lang="en-US" sz="1000" dirty="0"/>
          </a:p>
        </p:txBody>
      </p:sp>
      <p:sp>
        <p:nvSpPr>
          <p:cNvPr id="25" name="Shape 23"/>
          <p:cNvSpPr/>
          <p:nvPr/>
        </p:nvSpPr>
        <p:spPr>
          <a:xfrm>
            <a:off x="6035040" y="2057400"/>
            <a:ext cx="2880360" cy="329184"/>
          </a:xfrm>
          <a:prstGeom prst="rect">
            <a:avLst/>
          </a:prstGeom>
          <a:solidFill>
            <a:srgbClr val="27AE60">
              <a:alpha val="20000"/>
            </a:srgbClr>
          </a:solidFill>
          <a:ln w="12700">
            <a:solidFill>
              <a:srgbClr val="27AE60">
                <a:alpha val="38000"/>
              </a:srgbClr>
            </a:solidFill>
            <a:prstDash val="solid"/>
          </a:ln>
        </p:spPr>
        <p:txBody>
          <a:bodyPr/>
          <a:lstStyle/>
          <a:p>
            <a:endParaRPr lang="ja-JP" altLang="en-US"/>
          </a:p>
        </p:txBody>
      </p:sp>
      <p:sp>
        <p:nvSpPr>
          <p:cNvPr id="26" name="Text 24"/>
          <p:cNvSpPr/>
          <p:nvPr/>
        </p:nvSpPr>
        <p:spPr>
          <a:xfrm>
            <a:off x="6035040" y="2057400"/>
            <a:ext cx="2880360" cy="329184"/>
          </a:xfrm>
          <a:prstGeom prst="rect">
            <a:avLst/>
          </a:prstGeom>
          <a:noFill/>
          <a:ln/>
        </p:spPr>
        <p:txBody>
          <a:bodyPr wrap="square" lIns="0" tIns="0" rIns="0" bIns="0" rtlCol="0" anchor="ctr"/>
          <a:lstStyle/>
          <a:p>
            <a:pPr marL="0" indent="0" algn="ctr">
              <a:buNone/>
            </a:pPr>
            <a:r>
              <a:rPr lang="en-US" sz="1100" b="1" dirty="0">
                <a:solidFill>
                  <a:srgbClr val="27AE60"/>
                </a:solidFill>
              </a:rPr>
              <a:t># 美しい島</a:t>
            </a:r>
            <a:endParaRPr lang="en-US" sz="1100" dirty="0"/>
          </a:p>
        </p:txBody>
      </p:sp>
      <p:sp>
        <p:nvSpPr>
          <p:cNvPr id="27" name="Shape 25"/>
          <p:cNvSpPr/>
          <p:nvPr/>
        </p:nvSpPr>
        <p:spPr>
          <a:xfrm>
            <a:off x="6035040" y="2450592"/>
            <a:ext cx="2880360" cy="329184"/>
          </a:xfrm>
          <a:prstGeom prst="rect">
            <a:avLst/>
          </a:prstGeom>
          <a:solidFill>
            <a:srgbClr val="27AE60">
              <a:alpha val="20000"/>
            </a:srgbClr>
          </a:solidFill>
          <a:ln w="12700">
            <a:solidFill>
              <a:srgbClr val="27AE60">
                <a:alpha val="38000"/>
              </a:srgbClr>
            </a:solidFill>
            <a:prstDash val="solid"/>
          </a:ln>
        </p:spPr>
        <p:txBody>
          <a:bodyPr/>
          <a:lstStyle/>
          <a:p>
            <a:endParaRPr lang="ja-JP" altLang="en-US"/>
          </a:p>
        </p:txBody>
      </p:sp>
      <p:sp>
        <p:nvSpPr>
          <p:cNvPr id="28" name="Text 26"/>
          <p:cNvSpPr/>
          <p:nvPr/>
        </p:nvSpPr>
        <p:spPr>
          <a:xfrm>
            <a:off x="6035040" y="2450592"/>
            <a:ext cx="2880360" cy="329184"/>
          </a:xfrm>
          <a:prstGeom prst="rect">
            <a:avLst/>
          </a:prstGeom>
          <a:noFill/>
          <a:ln/>
        </p:spPr>
        <p:txBody>
          <a:bodyPr wrap="square" lIns="0" tIns="0" rIns="0" bIns="0" rtlCol="0" anchor="ctr"/>
          <a:lstStyle/>
          <a:p>
            <a:pPr marL="0" indent="0" algn="ctr">
              <a:buNone/>
            </a:pPr>
            <a:r>
              <a:rPr lang="en-US" sz="1100" b="1" dirty="0">
                <a:solidFill>
                  <a:srgbClr val="27AE60"/>
                </a:solidFill>
              </a:rPr>
              <a:t># 線引きパズル</a:t>
            </a:r>
            <a:endParaRPr lang="en-US" sz="1100" dirty="0"/>
          </a:p>
        </p:txBody>
      </p:sp>
      <p:sp>
        <p:nvSpPr>
          <p:cNvPr id="29" name="Shape 27"/>
          <p:cNvSpPr/>
          <p:nvPr/>
        </p:nvSpPr>
        <p:spPr>
          <a:xfrm>
            <a:off x="6035040" y="2843784"/>
            <a:ext cx="2880360" cy="329184"/>
          </a:xfrm>
          <a:prstGeom prst="rect">
            <a:avLst/>
          </a:prstGeom>
          <a:solidFill>
            <a:srgbClr val="27AE60">
              <a:alpha val="20000"/>
            </a:srgbClr>
          </a:solidFill>
          <a:ln w="12700">
            <a:solidFill>
              <a:srgbClr val="27AE60">
                <a:alpha val="38000"/>
              </a:srgbClr>
            </a:solidFill>
            <a:prstDash val="solid"/>
          </a:ln>
        </p:spPr>
        <p:txBody>
          <a:bodyPr/>
          <a:lstStyle/>
          <a:p>
            <a:endParaRPr lang="ja-JP" altLang="en-US"/>
          </a:p>
        </p:txBody>
      </p:sp>
      <p:sp>
        <p:nvSpPr>
          <p:cNvPr id="30" name="Text 28"/>
          <p:cNvSpPr/>
          <p:nvPr/>
        </p:nvSpPr>
        <p:spPr>
          <a:xfrm>
            <a:off x="6035040" y="2843784"/>
            <a:ext cx="2880360" cy="329184"/>
          </a:xfrm>
          <a:prstGeom prst="rect">
            <a:avLst/>
          </a:prstGeom>
          <a:noFill/>
          <a:ln/>
        </p:spPr>
        <p:txBody>
          <a:bodyPr wrap="square" lIns="0" tIns="0" rIns="0" bIns="0" rtlCol="0" anchor="ctr"/>
          <a:lstStyle/>
          <a:p>
            <a:pPr marL="0" indent="0" algn="ctr">
              <a:buNone/>
            </a:pPr>
            <a:r>
              <a:rPr lang="en-US" sz="1100" b="1" dirty="0">
                <a:solidFill>
                  <a:srgbClr val="27AE60"/>
                </a:solidFill>
              </a:rPr>
              <a:t># 深い哲学</a:t>
            </a:r>
            <a:endParaRPr lang="en-US" sz="1100" dirty="0"/>
          </a:p>
        </p:txBody>
      </p:sp>
      <p:sp>
        <p:nvSpPr>
          <p:cNvPr id="31" name="Shape 29"/>
          <p:cNvSpPr/>
          <p:nvPr/>
        </p:nvSpPr>
        <p:spPr>
          <a:xfrm>
            <a:off x="0" y="4846320"/>
            <a:ext cx="9144000" cy="297180"/>
          </a:xfrm>
          <a:prstGeom prst="rect">
            <a:avLst/>
          </a:prstGeom>
          <a:solidFill>
            <a:srgbClr val="0A0A14"/>
          </a:solidFill>
          <a:ln w="12700">
            <a:solidFill>
              <a:srgbClr val="0A0A14"/>
            </a:solidFill>
            <a:prstDash val="solid"/>
          </a:ln>
        </p:spPr>
        <p:txBody>
          <a:bodyPr/>
          <a:lstStyle/>
          <a:p>
            <a:endParaRPr lang="ja-JP" altLang="en-US"/>
          </a:p>
        </p:txBody>
      </p:sp>
      <p:sp>
        <p:nvSpPr>
          <p:cNvPr id="32" name="Shape 30"/>
          <p:cNvSpPr/>
          <p:nvPr/>
        </p:nvSpPr>
        <p:spPr>
          <a:xfrm>
            <a:off x="4023360" y="4960620"/>
            <a:ext cx="109728" cy="109728"/>
          </a:xfrm>
          <a:prstGeom prst="ellipse">
            <a:avLst/>
          </a:prstGeom>
          <a:solidFill>
            <a:srgbClr val="3D4450"/>
          </a:solidFill>
          <a:ln w="12700">
            <a:solidFill>
              <a:srgbClr val="3D4450"/>
            </a:solidFill>
            <a:prstDash val="solid"/>
          </a:ln>
        </p:spPr>
        <p:txBody>
          <a:bodyPr/>
          <a:lstStyle/>
          <a:p>
            <a:endParaRPr lang="ja-JP" altLang="en-US"/>
          </a:p>
        </p:txBody>
      </p:sp>
      <p:sp>
        <p:nvSpPr>
          <p:cNvPr id="33" name="Shape 31"/>
          <p:cNvSpPr/>
          <p:nvPr/>
        </p:nvSpPr>
        <p:spPr>
          <a:xfrm>
            <a:off x="4224528" y="4960620"/>
            <a:ext cx="109728" cy="109728"/>
          </a:xfrm>
          <a:prstGeom prst="ellipse">
            <a:avLst/>
          </a:prstGeom>
          <a:solidFill>
            <a:srgbClr val="3D4450"/>
          </a:solidFill>
          <a:ln w="12700">
            <a:solidFill>
              <a:srgbClr val="3D4450"/>
            </a:solidFill>
            <a:prstDash val="solid"/>
          </a:ln>
        </p:spPr>
        <p:txBody>
          <a:bodyPr/>
          <a:lstStyle/>
          <a:p>
            <a:endParaRPr lang="ja-JP" altLang="en-US"/>
          </a:p>
        </p:txBody>
      </p:sp>
      <p:sp>
        <p:nvSpPr>
          <p:cNvPr id="34" name="Shape 32"/>
          <p:cNvSpPr/>
          <p:nvPr/>
        </p:nvSpPr>
        <p:spPr>
          <a:xfrm>
            <a:off x="4425696" y="4960620"/>
            <a:ext cx="109728" cy="109728"/>
          </a:xfrm>
          <a:prstGeom prst="ellipse">
            <a:avLst/>
          </a:prstGeom>
          <a:solidFill>
            <a:srgbClr val="3D4450"/>
          </a:solidFill>
          <a:ln w="12700">
            <a:solidFill>
              <a:srgbClr val="3D4450"/>
            </a:solidFill>
            <a:prstDash val="solid"/>
          </a:ln>
        </p:spPr>
        <p:txBody>
          <a:bodyPr/>
          <a:lstStyle/>
          <a:p>
            <a:endParaRPr lang="ja-JP" altLang="en-US"/>
          </a:p>
        </p:txBody>
      </p:sp>
      <p:sp>
        <p:nvSpPr>
          <p:cNvPr id="35" name="Shape 33"/>
          <p:cNvSpPr/>
          <p:nvPr/>
        </p:nvSpPr>
        <p:spPr>
          <a:xfrm>
            <a:off x="4626864" y="4960620"/>
            <a:ext cx="109728" cy="109728"/>
          </a:xfrm>
          <a:prstGeom prst="ellipse">
            <a:avLst/>
          </a:prstGeom>
          <a:solidFill>
            <a:srgbClr val="3D4450"/>
          </a:solidFill>
          <a:ln w="12700">
            <a:solidFill>
              <a:srgbClr val="3D4450"/>
            </a:solidFill>
            <a:prstDash val="solid"/>
          </a:ln>
        </p:spPr>
        <p:txBody>
          <a:bodyPr/>
          <a:lstStyle/>
          <a:p>
            <a:endParaRPr lang="ja-JP" altLang="en-US"/>
          </a:p>
        </p:txBody>
      </p:sp>
      <p:sp>
        <p:nvSpPr>
          <p:cNvPr id="36" name="Shape 34"/>
          <p:cNvSpPr/>
          <p:nvPr/>
        </p:nvSpPr>
        <p:spPr>
          <a:xfrm>
            <a:off x="4828032" y="4960620"/>
            <a:ext cx="109728" cy="109728"/>
          </a:xfrm>
          <a:prstGeom prst="ellipse">
            <a:avLst/>
          </a:prstGeom>
          <a:solidFill>
            <a:srgbClr val="27AE60"/>
          </a:solidFill>
          <a:ln w="12700">
            <a:solidFill>
              <a:srgbClr val="27AE60"/>
            </a:solidFill>
            <a:prstDash val="solid"/>
          </a:ln>
        </p:spPr>
        <p:txBody>
          <a:bodyPr/>
          <a:lstStyle/>
          <a:p>
            <a:endParaRPr lang="ja-JP" altLang="en-US"/>
          </a:p>
        </p:txBody>
      </p:sp>
      <p:sp>
        <p:nvSpPr>
          <p:cNvPr id="37" name="Shape 35"/>
          <p:cNvSpPr/>
          <p:nvPr/>
        </p:nvSpPr>
        <p:spPr>
          <a:xfrm>
            <a:off x="5029200" y="4960620"/>
            <a:ext cx="109728" cy="109728"/>
          </a:xfrm>
          <a:prstGeom prst="ellipse">
            <a:avLst/>
          </a:prstGeom>
          <a:solidFill>
            <a:srgbClr val="3D4450"/>
          </a:solidFill>
          <a:ln w="12700">
            <a:solidFill>
              <a:srgbClr val="3D4450"/>
            </a:solidFill>
            <a:prstDash val="solid"/>
          </a:ln>
        </p:spPr>
        <p:txBody>
          <a:bodyPr/>
          <a:lstStyle/>
          <a:p>
            <a:endParaRPr lang="ja-JP" altLang="en-US"/>
          </a:p>
        </p:txBody>
      </p:sp>
      <p:sp>
        <p:nvSpPr>
          <p:cNvPr id="38" name="Text 36"/>
          <p:cNvSpPr/>
          <p:nvPr/>
        </p:nvSpPr>
        <p:spPr>
          <a:xfrm>
            <a:off x="7772400" y="4846320"/>
            <a:ext cx="1188720" cy="297180"/>
          </a:xfrm>
          <a:prstGeom prst="rect">
            <a:avLst/>
          </a:prstGeom>
          <a:noFill/>
          <a:ln/>
        </p:spPr>
        <p:txBody>
          <a:bodyPr wrap="square" rtlCol="0" anchor="ctr"/>
          <a:lstStyle/>
          <a:p>
            <a:pPr marL="0" indent="0" algn="ctr">
              <a:buNone/>
            </a:pPr>
            <a:r>
              <a:rPr lang="en-US" sz="1000" dirty="0">
                <a:solidFill>
                  <a:srgbClr val="8892A4"/>
                </a:solidFill>
              </a:rPr>
              <a:t>5 / 6</a:t>
            </a:r>
            <a:endParaRPr lang="en-US" sz="1000" dirty="0"/>
          </a:p>
        </p:txBody>
      </p:sp>
      <p:pic>
        <p:nvPicPr>
          <p:cNvPr id="40" name="図 39">
            <a:extLst>
              <a:ext uri="{FF2B5EF4-FFF2-40B4-BE49-F238E27FC236}">
                <a16:creationId xmlns:a16="http://schemas.microsoft.com/office/drawing/2014/main" id="{8F6ECCA7-D6C1-61DF-B6BA-C63821CD7B9A}"/>
              </a:ext>
            </a:extLst>
          </p:cNvPr>
          <p:cNvPicPr>
            <a:picLocks noChangeAspect="1"/>
          </p:cNvPicPr>
          <p:nvPr/>
        </p:nvPicPr>
        <p:blipFill>
          <a:blip r:embed="rId3"/>
          <a:stretch>
            <a:fillRect/>
          </a:stretch>
        </p:blipFill>
        <p:spPr>
          <a:xfrm>
            <a:off x="6003001" y="1673352"/>
            <a:ext cx="3053658" cy="2003394"/>
          </a:xfrm>
          <a:prstGeom prst="rect">
            <a:avLst/>
          </a:prstGeom>
        </p:spPr>
      </p:pic>
      <p:pic>
        <p:nvPicPr>
          <p:cNvPr id="42" name="図 41">
            <a:extLst>
              <a:ext uri="{FF2B5EF4-FFF2-40B4-BE49-F238E27FC236}">
                <a16:creationId xmlns:a16="http://schemas.microsoft.com/office/drawing/2014/main" id="{539CC230-034E-A5F7-D542-15F57361FF0A}"/>
              </a:ext>
            </a:extLst>
          </p:cNvPr>
          <p:cNvPicPr>
            <a:picLocks noChangeAspect="1"/>
          </p:cNvPicPr>
          <p:nvPr/>
        </p:nvPicPr>
        <p:blipFill>
          <a:blip r:embed="rId4"/>
          <a:stretch>
            <a:fillRect/>
          </a:stretch>
        </p:blipFill>
        <p:spPr>
          <a:xfrm>
            <a:off x="5417324" y="65314"/>
            <a:ext cx="3553321" cy="1562318"/>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F0E17"/>
        </a:solidFill>
        <a:effectLst/>
      </p:bgPr>
    </p:bg>
    <p:spTree>
      <p:nvGrpSpPr>
        <p:cNvPr id="1" name=""/>
        <p:cNvGrpSpPr/>
        <p:nvPr/>
      </p:nvGrpSpPr>
      <p:grpSpPr>
        <a:xfrm>
          <a:off x="0" y="0"/>
          <a:ext cx="0" cy="0"/>
          <a:chOff x="0" y="0"/>
          <a:chExt cx="0" cy="0"/>
        </a:xfrm>
      </p:grpSpPr>
      <p:sp>
        <p:nvSpPr>
          <p:cNvPr id="2" name="Shape 0"/>
          <p:cNvSpPr/>
          <p:nvPr/>
        </p:nvSpPr>
        <p:spPr>
          <a:xfrm>
            <a:off x="4572000" y="-1828800"/>
            <a:ext cx="7315200" cy="7315200"/>
          </a:xfrm>
          <a:prstGeom prst="ellipse">
            <a:avLst/>
          </a:prstGeom>
          <a:solidFill>
            <a:srgbClr val="E67E22">
              <a:alpha val="8000"/>
            </a:srgbClr>
          </a:solidFill>
          <a:ln w="12700">
            <a:solidFill>
              <a:srgbClr val="E67E22">
                <a:alpha val="8000"/>
              </a:srgbClr>
            </a:solidFill>
            <a:prstDash val="solid"/>
          </a:ln>
        </p:spPr>
        <p:txBody>
          <a:bodyPr/>
          <a:lstStyle/>
          <a:p>
            <a:endParaRPr lang="ja-JP" altLang="en-US"/>
          </a:p>
        </p:txBody>
      </p:sp>
      <p:sp>
        <p:nvSpPr>
          <p:cNvPr id="3" name="Shape 1"/>
          <p:cNvSpPr/>
          <p:nvPr/>
        </p:nvSpPr>
        <p:spPr>
          <a:xfrm>
            <a:off x="0" y="0"/>
            <a:ext cx="164592" cy="5143500"/>
          </a:xfrm>
          <a:prstGeom prst="rect">
            <a:avLst/>
          </a:prstGeom>
          <a:solidFill>
            <a:srgbClr val="E67E22"/>
          </a:solidFill>
          <a:ln w="12700">
            <a:solidFill>
              <a:srgbClr val="E67E22"/>
            </a:solidFill>
            <a:prstDash val="solid"/>
          </a:ln>
        </p:spPr>
        <p:txBody>
          <a:bodyPr/>
          <a:lstStyle/>
          <a:p>
            <a:endParaRPr lang="ja-JP" altLang="en-US"/>
          </a:p>
        </p:txBody>
      </p:sp>
      <p:sp>
        <p:nvSpPr>
          <p:cNvPr id="4" name="Shape 2"/>
          <p:cNvSpPr/>
          <p:nvPr/>
        </p:nvSpPr>
        <p:spPr>
          <a:xfrm>
            <a:off x="320040" y="256032"/>
            <a:ext cx="658368" cy="658368"/>
          </a:xfrm>
          <a:prstGeom prst="rect">
            <a:avLst/>
          </a:prstGeom>
          <a:solidFill>
            <a:srgbClr val="E67E22"/>
          </a:solidFill>
          <a:ln w="12700">
            <a:solidFill>
              <a:srgbClr val="E67E22"/>
            </a:solidFill>
            <a:prstDash val="solid"/>
          </a:ln>
        </p:spPr>
        <p:txBody>
          <a:bodyPr/>
          <a:lstStyle/>
          <a:p>
            <a:endParaRPr lang="ja-JP" altLang="en-US"/>
          </a:p>
        </p:txBody>
      </p:sp>
      <p:sp>
        <p:nvSpPr>
          <p:cNvPr id="5" name="Text 3"/>
          <p:cNvSpPr/>
          <p:nvPr/>
        </p:nvSpPr>
        <p:spPr>
          <a:xfrm>
            <a:off x="320040" y="256032"/>
            <a:ext cx="658368" cy="658368"/>
          </a:xfrm>
          <a:prstGeom prst="rect">
            <a:avLst/>
          </a:prstGeom>
          <a:noFill/>
          <a:ln/>
        </p:spPr>
        <p:txBody>
          <a:bodyPr wrap="square" lIns="0" tIns="0" rIns="0" bIns="0" rtlCol="0" anchor="ctr"/>
          <a:lstStyle/>
          <a:p>
            <a:pPr marL="0" indent="0" algn="ctr">
              <a:buNone/>
            </a:pPr>
            <a:r>
              <a:rPr lang="en-US" sz="2200" b="1" dirty="0">
                <a:solidFill>
                  <a:srgbClr val="0F0E17"/>
                </a:solidFill>
                <a:latin typeface="Arial Black" pitchFamily="34" charset="0"/>
                <a:ea typeface="Arial Black" pitchFamily="34" charset="-122"/>
                <a:cs typeface="Arial Black" pitchFamily="34" charset="-120"/>
              </a:rPr>
              <a:t>6</a:t>
            </a:r>
            <a:endParaRPr lang="en-US" sz="2200" dirty="0"/>
          </a:p>
        </p:txBody>
      </p:sp>
      <p:sp>
        <p:nvSpPr>
          <p:cNvPr id="6" name="Shape 4"/>
          <p:cNvSpPr/>
          <p:nvPr/>
        </p:nvSpPr>
        <p:spPr>
          <a:xfrm>
            <a:off x="1115568" y="301752"/>
            <a:ext cx="2377440" cy="347472"/>
          </a:xfrm>
          <a:prstGeom prst="roundRect">
            <a:avLst>
              <a:gd name="adj" fmla="val 21053"/>
            </a:avLst>
          </a:prstGeom>
          <a:solidFill>
            <a:srgbClr val="E67E22">
              <a:alpha val="25000"/>
            </a:srgbClr>
          </a:solidFill>
          <a:ln w="12700">
            <a:solidFill>
              <a:srgbClr val="E67E22">
                <a:alpha val="55000"/>
              </a:srgbClr>
            </a:solidFill>
            <a:prstDash val="solid"/>
          </a:ln>
        </p:spPr>
        <p:txBody>
          <a:bodyPr/>
          <a:lstStyle/>
          <a:p>
            <a:endParaRPr lang="ja-JP" altLang="en-US"/>
          </a:p>
        </p:txBody>
      </p:sp>
      <p:sp>
        <p:nvSpPr>
          <p:cNvPr id="7" name="Text 5"/>
          <p:cNvSpPr/>
          <p:nvPr/>
        </p:nvSpPr>
        <p:spPr>
          <a:xfrm>
            <a:off x="1115568" y="301752"/>
            <a:ext cx="2377440" cy="347472"/>
          </a:xfrm>
          <a:prstGeom prst="rect">
            <a:avLst/>
          </a:prstGeom>
          <a:noFill/>
          <a:ln/>
        </p:spPr>
        <p:txBody>
          <a:bodyPr wrap="square" lIns="0" tIns="0" rIns="0" bIns="0" rtlCol="0" anchor="ctr"/>
          <a:lstStyle/>
          <a:p>
            <a:pPr marL="0" indent="0" algn="ctr">
              <a:buNone/>
            </a:pPr>
            <a:r>
              <a:rPr lang="en-US" sz="1100" b="1" dirty="0">
                <a:solidFill>
                  <a:srgbClr val="E67E22"/>
                </a:solidFill>
              </a:rPr>
              <a:t>探索・ミステリー</a:t>
            </a:r>
            <a:endParaRPr lang="en-US" sz="1100" dirty="0"/>
          </a:p>
        </p:txBody>
      </p:sp>
      <p:sp>
        <p:nvSpPr>
          <p:cNvPr id="8" name="Text 6"/>
          <p:cNvSpPr/>
          <p:nvPr/>
        </p:nvSpPr>
        <p:spPr>
          <a:xfrm>
            <a:off x="7132320" y="137160"/>
            <a:ext cx="1737360" cy="1737360"/>
          </a:xfrm>
          <a:prstGeom prst="rect">
            <a:avLst/>
          </a:prstGeom>
          <a:noFill/>
          <a:ln/>
        </p:spPr>
        <p:txBody>
          <a:bodyPr wrap="square" rtlCol="0" anchor="ctr"/>
          <a:lstStyle/>
          <a:p>
            <a:pPr marL="0" indent="0" algn="ctr">
              <a:buNone/>
            </a:pPr>
            <a:r>
              <a:rPr lang="en-US" sz="7200" dirty="0">
                <a:solidFill>
                  <a:srgbClr val="000000"/>
                </a:solidFill>
              </a:rPr>
              <a:t>🌌</a:t>
            </a:r>
            <a:endParaRPr lang="en-US" sz="7200" dirty="0"/>
          </a:p>
        </p:txBody>
      </p:sp>
      <p:sp>
        <p:nvSpPr>
          <p:cNvPr id="9" name="Text 7"/>
          <p:cNvSpPr/>
          <p:nvPr/>
        </p:nvSpPr>
        <p:spPr>
          <a:xfrm>
            <a:off x="320040" y="804672"/>
            <a:ext cx="6583680" cy="868680"/>
          </a:xfrm>
          <a:prstGeom prst="rect">
            <a:avLst/>
          </a:prstGeom>
          <a:noFill/>
          <a:ln/>
        </p:spPr>
        <p:txBody>
          <a:bodyPr wrap="square" rtlCol="0" anchor="ctr"/>
          <a:lstStyle/>
          <a:p>
            <a:pPr marL="0" indent="0">
              <a:buNone/>
            </a:pPr>
            <a:r>
              <a:rPr lang="en-US" sz="3600" b="1" dirty="0">
                <a:solidFill>
                  <a:srgbClr val="FFFFFF"/>
                </a:solidFill>
                <a:latin typeface="Arial Black" pitchFamily="34" charset="0"/>
                <a:ea typeface="Arial Black" pitchFamily="34" charset="-122"/>
                <a:cs typeface="Arial Black" pitchFamily="34" charset="-120"/>
              </a:rPr>
              <a:t>Outer Wilds</a:t>
            </a:r>
            <a:endParaRPr lang="en-US" sz="3600" dirty="0"/>
          </a:p>
        </p:txBody>
      </p:sp>
      <p:sp>
        <p:nvSpPr>
          <p:cNvPr id="10" name="Shape 8"/>
          <p:cNvSpPr/>
          <p:nvPr/>
        </p:nvSpPr>
        <p:spPr>
          <a:xfrm>
            <a:off x="320040" y="1755648"/>
            <a:ext cx="5577840" cy="1371600"/>
          </a:xfrm>
          <a:prstGeom prst="rect">
            <a:avLst/>
          </a:prstGeom>
          <a:solidFill>
            <a:srgbClr val="16213E"/>
          </a:solidFill>
          <a:ln w="12700">
            <a:solidFill>
              <a:srgbClr val="E67E22">
                <a:alpha val="32000"/>
              </a:srgbClr>
            </a:solidFill>
            <a:prstDash val="solid"/>
          </a:ln>
        </p:spPr>
        <p:txBody>
          <a:bodyPr/>
          <a:lstStyle/>
          <a:p>
            <a:endParaRPr lang="ja-JP" altLang="en-US"/>
          </a:p>
        </p:txBody>
      </p:sp>
      <p:sp>
        <p:nvSpPr>
          <p:cNvPr id="11" name="Text 9"/>
          <p:cNvSpPr/>
          <p:nvPr/>
        </p:nvSpPr>
        <p:spPr>
          <a:xfrm>
            <a:off x="502920" y="1801368"/>
            <a:ext cx="5212080" cy="1280160"/>
          </a:xfrm>
          <a:prstGeom prst="rect">
            <a:avLst/>
          </a:prstGeom>
          <a:noFill/>
          <a:ln/>
        </p:spPr>
        <p:txBody>
          <a:bodyPr wrap="square" rtlCol="0" anchor="ctr"/>
          <a:lstStyle/>
          <a:p>
            <a:pPr marL="0" indent="0">
              <a:buNone/>
            </a:pPr>
            <a:r>
              <a:rPr lang="ja-JP" altLang="en-US" sz="1300" dirty="0">
                <a:solidFill>
                  <a:srgbClr val="D1D5DB"/>
                </a:solidFill>
              </a:rPr>
              <a:t>宇宙船に乗って旅をしていく中で、世界の秘密に迫っていく作品。</a:t>
            </a:r>
            <a:endParaRPr lang="en-US" altLang="ja-JP" sz="1300" dirty="0">
              <a:solidFill>
                <a:srgbClr val="D1D5DB"/>
              </a:solidFill>
            </a:endParaRPr>
          </a:p>
          <a:p>
            <a:pPr marL="0" indent="0">
              <a:buNone/>
            </a:pPr>
            <a:r>
              <a:rPr lang="ja-JP" altLang="en-US" sz="1300" dirty="0">
                <a:solidFill>
                  <a:srgbClr val="D1D5DB"/>
                </a:solidFill>
              </a:rPr>
              <a:t>クリアした人は実況動画を漁るゾンビになるという噂</a:t>
            </a:r>
            <a:endParaRPr lang="en-US" altLang="ja-JP" sz="1300" dirty="0">
              <a:solidFill>
                <a:srgbClr val="D1D5DB"/>
              </a:solidFill>
            </a:endParaRPr>
          </a:p>
          <a:p>
            <a:pPr marL="0" indent="0">
              <a:buNone/>
            </a:pPr>
            <a:r>
              <a:rPr lang="ja-JP" altLang="en-US" sz="1300" dirty="0">
                <a:solidFill>
                  <a:srgbClr val="D1D5DB"/>
                </a:solidFill>
              </a:rPr>
              <a:t>何もネタバレをしたくない。やるときはぜひ声をかけてください。</a:t>
            </a:r>
            <a:endParaRPr lang="en-US" sz="1300" dirty="0"/>
          </a:p>
        </p:txBody>
      </p:sp>
      <p:sp>
        <p:nvSpPr>
          <p:cNvPr id="12" name="Shape 10"/>
          <p:cNvSpPr/>
          <p:nvPr/>
        </p:nvSpPr>
        <p:spPr>
          <a:xfrm>
            <a:off x="320040" y="3246120"/>
            <a:ext cx="1783080" cy="1234440"/>
          </a:xfrm>
          <a:prstGeom prst="rect">
            <a:avLst/>
          </a:prstGeom>
          <a:solidFill>
            <a:srgbClr val="0D1B2A"/>
          </a:solidFill>
          <a:ln w="12700">
            <a:solidFill>
              <a:srgbClr val="E67E22">
                <a:alpha val="38000"/>
              </a:srgbClr>
            </a:solidFill>
            <a:prstDash val="solid"/>
          </a:ln>
        </p:spPr>
        <p:txBody>
          <a:bodyPr/>
          <a:lstStyle/>
          <a:p>
            <a:endParaRPr lang="ja-JP" altLang="en-US"/>
          </a:p>
        </p:txBody>
      </p:sp>
      <p:sp>
        <p:nvSpPr>
          <p:cNvPr id="13" name="Text 11"/>
          <p:cNvSpPr/>
          <p:nvPr/>
        </p:nvSpPr>
        <p:spPr>
          <a:xfrm>
            <a:off x="320040" y="3282696"/>
            <a:ext cx="1783080" cy="384048"/>
          </a:xfrm>
          <a:prstGeom prst="rect">
            <a:avLst/>
          </a:prstGeom>
          <a:noFill/>
          <a:ln/>
        </p:spPr>
        <p:txBody>
          <a:bodyPr wrap="square" rtlCol="0" anchor="ctr"/>
          <a:lstStyle/>
          <a:p>
            <a:pPr marL="0" indent="0" algn="ctr">
              <a:buNone/>
            </a:pPr>
            <a:r>
              <a:rPr lang="en-US" sz="1800" dirty="0">
                <a:solidFill>
                  <a:srgbClr val="000000"/>
                </a:solidFill>
              </a:rPr>
              <a:t>🎮</a:t>
            </a:r>
            <a:endParaRPr lang="en-US" sz="1800" dirty="0"/>
          </a:p>
        </p:txBody>
      </p:sp>
      <p:sp>
        <p:nvSpPr>
          <p:cNvPr id="14" name="Text 12"/>
          <p:cNvSpPr/>
          <p:nvPr/>
        </p:nvSpPr>
        <p:spPr>
          <a:xfrm>
            <a:off x="320040" y="3648456"/>
            <a:ext cx="1783080" cy="219456"/>
          </a:xfrm>
          <a:prstGeom prst="rect">
            <a:avLst/>
          </a:prstGeom>
          <a:noFill/>
          <a:ln/>
        </p:spPr>
        <p:txBody>
          <a:bodyPr wrap="square" rtlCol="0" anchor="ctr"/>
          <a:lstStyle/>
          <a:p>
            <a:pPr marL="0" indent="0" algn="ctr">
              <a:buNone/>
            </a:pPr>
            <a:r>
              <a:rPr lang="en-US" sz="900" dirty="0">
                <a:solidFill>
                  <a:srgbClr val="8892A4"/>
                </a:solidFill>
              </a:rPr>
              <a:t>プラットフォーム</a:t>
            </a:r>
            <a:endParaRPr lang="en-US" sz="900" dirty="0"/>
          </a:p>
        </p:txBody>
      </p:sp>
      <p:sp>
        <p:nvSpPr>
          <p:cNvPr id="15" name="Text 13"/>
          <p:cNvSpPr/>
          <p:nvPr/>
        </p:nvSpPr>
        <p:spPr>
          <a:xfrm>
            <a:off x="320040" y="3858768"/>
            <a:ext cx="1783080" cy="512064"/>
          </a:xfrm>
          <a:prstGeom prst="rect">
            <a:avLst/>
          </a:prstGeom>
          <a:noFill/>
          <a:ln/>
        </p:spPr>
        <p:txBody>
          <a:bodyPr wrap="square" rtlCol="0" anchor="t"/>
          <a:lstStyle/>
          <a:p>
            <a:pPr marL="0" indent="0" algn="ctr">
              <a:buNone/>
            </a:pPr>
            <a:r>
              <a:rPr lang="en-US" sz="950" b="1" dirty="0">
                <a:solidFill>
                  <a:srgbClr val="FFFFFF"/>
                </a:solidFill>
              </a:rPr>
              <a:t>PC / PS4・5 / Xbox</a:t>
            </a:r>
            <a:endParaRPr lang="en-US" sz="950" dirty="0"/>
          </a:p>
        </p:txBody>
      </p:sp>
      <p:sp>
        <p:nvSpPr>
          <p:cNvPr id="16" name="Shape 14"/>
          <p:cNvSpPr/>
          <p:nvPr/>
        </p:nvSpPr>
        <p:spPr>
          <a:xfrm>
            <a:off x="2125980" y="3246120"/>
            <a:ext cx="1783080" cy="1234440"/>
          </a:xfrm>
          <a:prstGeom prst="rect">
            <a:avLst/>
          </a:prstGeom>
          <a:solidFill>
            <a:srgbClr val="0D1B2A"/>
          </a:solidFill>
          <a:ln w="12700">
            <a:solidFill>
              <a:srgbClr val="E67E22">
                <a:alpha val="38000"/>
              </a:srgbClr>
            </a:solidFill>
            <a:prstDash val="solid"/>
          </a:ln>
        </p:spPr>
        <p:txBody>
          <a:bodyPr/>
          <a:lstStyle/>
          <a:p>
            <a:endParaRPr lang="ja-JP" altLang="en-US"/>
          </a:p>
        </p:txBody>
      </p:sp>
      <p:sp>
        <p:nvSpPr>
          <p:cNvPr id="17" name="Text 15"/>
          <p:cNvSpPr/>
          <p:nvPr/>
        </p:nvSpPr>
        <p:spPr>
          <a:xfrm>
            <a:off x="2125980" y="3282696"/>
            <a:ext cx="1783080" cy="384048"/>
          </a:xfrm>
          <a:prstGeom prst="rect">
            <a:avLst/>
          </a:prstGeom>
          <a:noFill/>
          <a:ln/>
        </p:spPr>
        <p:txBody>
          <a:bodyPr wrap="square" rtlCol="0" anchor="ctr"/>
          <a:lstStyle/>
          <a:p>
            <a:pPr marL="0" indent="0" algn="ctr">
              <a:buNone/>
            </a:pPr>
            <a:r>
              <a:rPr lang="en-US" sz="1800" dirty="0">
                <a:solidFill>
                  <a:srgbClr val="000000"/>
                </a:solidFill>
              </a:rPr>
              <a:t>⏱</a:t>
            </a:r>
            <a:endParaRPr lang="en-US" sz="1800" dirty="0"/>
          </a:p>
        </p:txBody>
      </p:sp>
      <p:sp>
        <p:nvSpPr>
          <p:cNvPr id="18" name="Text 16"/>
          <p:cNvSpPr/>
          <p:nvPr/>
        </p:nvSpPr>
        <p:spPr>
          <a:xfrm>
            <a:off x="2125980" y="3648456"/>
            <a:ext cx="1783080" cy="219456"/>
          </a:xfrm>
          <a:prstGeom prst="rect">
            <a:avLst/>
          </a:prstGeom>
          <a:noFill/>
          <a:ln/>
        </p:spPr>
        <p:txBody>
          <a:bodyPr wrap="square" rtlCol="0" anchor="ctr"/>
          <a:lstStyle/>
          <a:p>
            <a:pPr marL="0" indent="0" algn="ctr">
              <a:buNone/>
            </a:pPr>
            <a:r>
              <a:rPr lang="en-US" sz="900" dirty="0">
                <a:solidFill>
                  <a:srgbClr val="8892A4"/>
                </a:solidFill>
              </a:rPr>
              <a:t>プレイ時間</a:t>
            </a:r>
            <a:endParaRPr lang="en-US" sz="900" dirty="0"/>
          </a:p>
        </p:txBody>
      </p:sp>
      <p:sp>
        <p:nvSpPr>
          <p:cNvPr id="19" name="Text 17"/>
          <p:cNvSpPr/>
          <p:nvPr/>
        </p:nvSpPr>
        <p:spPr>
          <a:xfrm>
            <a:off x="2125980" y="3858768"/>
            <a:ext cx="1783080" cy="512064"/>
          </a:xfrm>
          <a:prstGeom prst="rect">
            <a:avLst/>
          </a:prstGeom>
          <a:noFill/>
          <a:ln/>
        </p:spPr>
        <p:txBody>
          <a:bodyPr wrap="square" rtlCol="0" anchor="t"/>
          <a:lstStyle/>
          <a:p>
            <a:pPr marL="0" indent="0" algn="ctr">
              <a:buNone/>
            </a:pPr>
            <a:r>
              <a:rPr lang="en-US" sz="950" b="1" dirty="0">
                <a:solidFill>
                  <a:srgbClr val="FFFFFF"/>
                </a:solidFill>
              </a:rPr>
              <a:t>約30〜50時間</a:t>
            </a:r>
            <a:endParaRPr lang="en-US" sz="950" dirty="0"/>
          </a:p>
        </p:txBody>
      </p:sp>
      <p:sp>
        <p:nvSpPr>
          <p:cNvPr id="20" name="Shape 18"/>
          <p:cNvSpPr/>
          <p:nvPr/>
        </p:nvSpPr>
        <p:spPr>
          <a:xfrm>
            <a:off x="3931920" y="3246120"/>
            <a:ext cx="1783080" cy="1234440"/>
          </a:xfrm>
          <a:prstGeom prst="rect">
            <a:avLst/>
          </a:prstGeom>
          <a:solidFill>
            <a:srgbClr val="0D1B2A"/>
          </a:solidFill>
          <a:ln w="12700">
            <a:solidFill>
              <a:srgbClr val="E67E22">
                <a:alpha val="38000"/>
              </a:srgbClr>
            </a:solidFill>
            <a:prstDash val="solid"/>
          </a:ln>
        </p:spPr>
        <p:txBody>
          <a:bodyPr/>
          <a:lstStyle/>
          <a:p>
            <a:endParaRPr lang="ja-JP" altLang="en-US"/>
          </a:p>
        </p:txBody>
      </p:sp>
      <p:sp>
        <p:nvSpPr>
          <p:cNvPr id="21" name="Text 19"/>
          <p:cNvSpPr/>
          <p:nvPr/>
        </p:nvSpPr>
        <p:spPr>
          <a:xfrm>
            <a:off x="3931920" y="3282696"/>
            <a:ext cx="1783080" cy="384048"/>
          </a:xfrm>
          <a:prstGeom prst="rect">
            <a:avLst/>
          </a:prstGeom>
          <a:noFill/>
          <a:ln/>
        </p:spPr>
        <p:txBody>
          <a:bodyPr wrap="square" rtlCol="0" anchor="ctr"/>
          <a:lstStyle/>
          <a:p>
            <a:pPr marL="0" indent="0" algn="ctr">
              <a:buNone/>
            </a:pPr>
            <a:r>
              <a:rPr lang="ja-JP" altLang="en-US" sz="1800" dirty="0">
                <a:solidFill>
                  <a:srgbClr val="000000"/>
                </a:solidFill>
              </a:rPr>
              <a:t>💸</a:t>
            </a:r>
            <a:endParaRPr lang="en-US" sz="1800" dirty="0"/>
          </a:p>
        </p:txBody>
      </p:sp>
      <p:sp>
        <p:nvSpPr>
          <p:cNvPr id="22" name="Text 20"/>
          <p:cNvSpPr/>
          <p:nvPr/>
        </p:nvSpPr>
        <p:spPr>
          <a:xfrm>
            <a:off x="3931920" y="3648456"/>
            <a:ext cx="1783080" cy="219456"/>
          </a:xfrm>
          <a:prstGeom prst="rect">
            <a:avLst/>
          </a:prstGeom>
          <a:noFill/>
          <a:ln/>
        </p:spPr>
        <p:txBody>
          <a:bodyPr wrap="square" rtlCol="0" anchor="ctr"/>
          <a:lstStyle/>
          <a:p>
            <a:pPr marL="0" indent="0" algn="ctr">
              <a:buNone/>
            </a:pPr>
            <a:r>
              <a:rPr lang="ja-JP" altLang="en-US" sz="900" dirty="0">
                <a:solidFill>
                  <a:srgbClr val="8892A4"/>
                </a:solidFill>
              </a:rPr>
              <a:t>値段</a:t>
            </a:r>
            <a:endParaRPr lang="en-US" sz="900" dirty="0"/>
          </a:p>
        </p:txBody>
      </p:sp>
      <p:sp>
        <p:nvSpPr>
          <p:cNvPr id="23" name="Text 21"/>
          <p:cNvSpPr/>
          <p:nvPr/>
        </p:nvSpPr>
        <p:spPr>
          <a:xfrm>
            <a:off x="3931920" y="3858768"/>
            <a:ext cx="1783080" cy="512064"/>
          </a:xfrm>
          <a:prstGeom prst="rect">
            <a:avLst/>
          </a:prstGeom>
          <a:noFill/>
          <a:ln/>
        </p:spPr>
        <p:txBody>
          <a:bodyPr wrap="square" rtlCol="0" anchor="t"/>
          <a:lstStyle/>
          <a:p>
            <a:pPr marL="0" indent="0" algn="ctr">
              <a:buNone/>
            </a:pPr>
            <a:r>
              <a:rPr lang="en-US" sz="950" b="1" dirty="0">
                <a:solidFill>
                  <a:srgbClr val="FFFFFF"/>
                </a:solidFill>
              </a:rPr>
              <a:t>3000</a:t>
            </a:r>
            <a:r>
              <a:rPr lang="ja-JP" altLang="en-US" sz="950" b="1" dirty="0">
                <a:solidFill>
                  <a:srgbClr val="FFFFFF"/>
                </a:solidFill>
              </a:rPr>
              <a:t>円</a:t>
            </a:r>
            <a:endParaRPr lang="en-US" sz="950" dirty="0"/>
          </a:p>
        </p:txBody>
      </p:sp>
      <p:sp>
        <p:nvSpPr>
          <p:cNvPr id="31" name="Shape 29"/>
          <p:cNvSpPr/>
          <p:nvPr/>
        </p:nvSpPr>
        <p:spPr>
          <a:xfrm>
            <a:off x="0" y="4846320"/>
            <a:ext cx="9144000" cy="297180"/>
          </a:xfrm>
          <a:prstGeom prst="rect">
            <a:avLst/>
          </a:prstGeom>
          <a:solidFill>
            <a:srgbClr val="0A0A14"/>
          </a:solidFill>
          <a:ln w="12700">
            <a:solidFill>
              <a:srgbClr val="0A0A14"/>
            </a:solidFill>
            <a:prstDash val="solid"/>
          </a:ln>
        </p:spPr>
        <p:txBody>
          <a:bodyPr/>
          <a:lstStyle/>
          <a:p>
            <a:endParaRPr lang="ja-JP" altLang="en-US"/>
          </a:p>
        </p:txBody>
      </p:sp>
      <p:sp>
        <p:nvSpPr>
          <p:cNvPr id="32" name="Shape 30"/>
          <p:cNvSpPr/>
          <p:nvPr/>
        </p:nvSpPr>
        <p:spPr>
          <a:xfrm>
            <a:off x="4023360" y="4960620"/>
            <a:ext cx="109728" cy="109728"/>
          </a:xfrm>
          <a:prstGeom prst="ellipse">
            <a:avLst/>
          </a:prstGeom>
          <a:solidFill>
            <a:srgbClr val="3D4450"/>
          </a:solidFill>
          <a:ln w="12700">
            <a:solidFill>
              <a:srgbClr val="3D4450"/>
            </a:solidFill>
            <a:prstDash val="solid"/>
          </a:ln>
        </p:spPr>
        <p:txBody>
          <a:bodyPr/>
          <a:lstStyle/>
          <a:p>
            <a:endParaRPr lang="ja-JP" altLang="en-US"/>
          </a:p>
        </p:txBody>
      </p:sp>
      <p:sp>
        <p:nvSpPr>
          <p:cNvPr id="33" name="Shape 31"/>
          <p:cNvSpPr/>
          <p:nvPr/>
        </p:nvSpPr>
        <p:spPr>
          <a:xfrm>
            <a:off x="4224528" y="4960620"/>
            <a:ext cx="109728" cy="109728"/>
          </a:xfrm>
          <a:prstGeom prst="ellipse">
            <a:avLst/>
          </a:prstGeom>
          <a:solidFill>
            <a:srgbClr val="3D4450"/>
          </a:solidFill>
          <a:ln w="12700">
            <a:solidFill>
              <a:srgbClr val="3D4450"/>
            </a:solidFill>
            <a:prstDash val="solid"/>
          </a:ln>
        </p:spPr>
        <p:txBody>
          <a:bodyPr/>
          <a:lstStyle/>
          <a:p>
            <a:endParaRPr lang="ja-JP" altLang="en-US"/>
          </a:p>
        </p:txBody>
      </p:sp>
      <p:sp>
        <p:nvSpPr>
          <p:cNvPr id="34" name="Shape 32"/>
          <p:cNvSpPr/>
          <p:nvPr/>
        </p:nvSpPr>
        <p:spPr>
          <a:xfrm>
            <a:off x="4425696" y="4960620"/>
            <a:ext cx="109728" cy="109728"/>
          </a:xfrm>
          <a:prstGeom prst="ellipse">
            <a:avLst/>
          </a:prstGeom>
          <a:solidFill>
            <a:srgbClr val="3D4450"/>
          </a:solidFill>
          <a:ln w="12700">
            <a:solidFill>
              <a:srgbClr val="3D4450"/>
            </a:solidFill>
            <a:prstDash val="solid"/>
          </a:ln>
        </p:spPr>
        <p:txBody>
          <a:bodyPr/>
          <a:lstStyle/>
          <a:p>
            <a:endParaRPr lang="ja-JP" altLang="en-US"/>
          </a:p>
        </p:txBody>
      </p:sp>
      <p:sp>
        <p:nvSpPr>
          <p:cNvPr id="35" name="Shape 33"/>
          <p:cNvSpPr/>
          <p:nvPr/>
        </p:nvSpPr>
        <p:spPr>
          <a:xfrm>
            <a:off x="4626864" y="4960620"/>
            <a:ext cx="109728" cy="109728"/>
          </a:xfrm>
          <a:prstGeom prst="ellipse">
            <a:avLst/>
          </a:prstGeom>
          <a:solidFill>
            <a:srgbClr val="3D4450"/>
          </a:solidFill>
          <a:ln w="12700">
            <a:solidFill>
              <a:srgbClr val="3D4450"/>
            </a:solidFill>
            <a:prstDash val="solid"/>
          </a:ln>
        </p:spPr>
        <p:txBody>
          <a:bodyPr/>
          <a:lstStyle/>
          <a:p>
            <a:endParaRPr lang="ja-JP" altLang="en-US"/>
          </a:p>
        </p:txBody>
      </p:sp>
      <p:sp>
        <p:nvSpPr>
          <p:cNvPr id="36" name="Shape 34"/>
          <p:cNvSpPr/>
          <p:nvPr/>
        </p:nvSpPr>
        <p:spPr>
          <a:xfrm>
            <a:off x="4828032" y="4960620"/>
            <a:ext cx="109728" cy="109728"/>
          </a:xfrm>
          <a:prstGeom prst="ellipse">
            <a:avLst/>
          </a:prstGeom>
          <a:solidFill>
            <a:srgbClr val="3D4450"/>
          </a:solidFill>
          <a:ln w="12700">
            <a:solidFill>
              <a:srgbClr val="3D4450"/>
            </a:solidFill>
            <a:prstDash val="solid"/>
          </a:ln>
        </p:spPr>
        <p:txBody>
          <a:bodyPr/>
          <a:lstStyle/>
          <a:p>
            <a:endParaRPr lang="ja-JP" altLang="en-US"/>
          </a:p>
        </p:txBody>
      </p:sp>
      <p:sp>
        <p:nvSpPr>
          <p:cNvPr id="37" name="Shape 35"/>
          <p:cNvSpPr/>
          <p:nvPr/>
        </p:nvSpPr>
        <p:spPr>
          <a:xfrm>
            <a:off x="5029200" y="4960620"/>
            <a:ext cx="109728" cy="109728"/>
          </a:xfrm>
          <a:prstGeom prst="ellipse">
            <a:avLst/>
          </a:prstGeom>
          <a:solidFill>
            <a:srgbClr val="E67E22"/>
          </a:solidFill>
          <a:ln w="12700">
            <a:solidFill>
              <a:srgbClr val="E67E22"/>
            </a:solidFill>
            <a:prstDash val="solid"/>
          </a:ln>
        </p:spPr>
        <p:txBody>
          <a:bodyPr/>
          <a:lstStyle/>
          <a:p>
            <a:endParaRPr lang="ja-JP" altLang="en-US"/>
          </a:p>
        </p:txBody>
      </p:sp>
      <p:sp>
        <p:nvSpPr>
          <p:cNvPr id="38" name="Text 36"/>
          <p:cNvSpPr/>
          <p:nvPr/>
        </p:nvSpPr>
        <p:spPr>
          <a:xfrm>
            <a:off x="7772400" y="4846320"/>
            <a:ext cx="1188720" cy="297180"/>
          </a:xfrm>
          <a:prstGeom prst="rect">
            <a:avLst/>
          </a:prstGeom>
          <a:noFill/>
          <a:ln/>
        </p:spPr>
        <p:txBody>
          <a:bodyPr wrap="square" rtlCol="0" anchor="ctr"/>
          <a:lstStyle/>
          <a:p>
            <a:pPr marL="0" indent="0" algn="ctr">
              <a:buNone/>
            </a:pPr>
            <a:r>
              <a:rPr lang="en-US" sz="1000" dirty="0">
                <a:solidFill>
                  <a:srgbClr val="8892A4"/>
                </a:solidFill>
              </a:rPr>
              <a:t>6 / 6</a:t>
            </a:r>
            <a:endParaRPr lang="en-US" sz="1000" dirty="0"/>
          </a:p>
        </p:txBody>
      </p:sp>
      <p:pic>
        <p:nvPicPr>
          <p:cNvPr id="40" name="図 39">
            <a:extLst>
              <a:ext uri="{FF2B5EF4-FFF2-40B4-BE49-F238E27FC236}">
                <a16:creationId xmlns:a16="http://schemas.microsoft.com/office/drawing/2014/main" id="{FBEAFD2B-F4E2-A18F-C220-DA0020BF550B}"/>
              </a:ext>
            </a:extLst>
          </p:cNvPr>
          <p:cNvPicPr>
            <a:picLocks noChangeAspect="1"/>
          </p:cNvPicPr>
          <p:nvPr/>
        </p:nvPicPr>
        <p:blipFill>
          <a:blip r:embed="rId3"/>
          <a:stretch>
            <a:fillRect/>
          </a:stretch>
        </p:blipFill>
        <p:spPr>
          <a:xfrm>
            <a:off x="5949261" y="297180"/>
            <a:ext cx="2786741" cy="137160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F0E17"/>
        </a:solidFill>
        <a:effectLst/>
      </p:bgPr>
    </p:bg>
    <p:spTree>
      <p:nvGrpSpPr>
        <p:cNvPr id="1" name=""/>
        <p:cNvGrpSpPr/>
        <p:nvPr/>
      </p:nvGrpSpPr>
      <p:grpSpPr>
        <a:xfrm>
          <a:off x="0" y="0"/>
          <a:ext cx="0" cy="0"/>
          <a:chOff x="0" y="0"/>
          <a:chExt cx="0" cy="0"/>
        </a:xfrm>
      </p:grpSpPr>
      <p:sp>
        <p:nvSpPr>
          <p:cNvPr id="98" name="Shape 0">
            <a:extLst>
              <a:ext uri="{FF2B5EF4-FFF2-40B4-BE49-F238E27FC236}">
                <a16:creationId xmlns:a16="http://schemas.microsoft.com/office/drawing/2014/main" id="{BB4247B5-99A1-7F4E-62E1-4AB52AABE32D}"/>
              </a:ext>
            </a:extLst>
          </p:cNvPr>
          <p:cNvSpPr/>
          <p:nvPr/>
        </p:nvSpPr>
        <p:spPr>
          <a:xfrm>
            <a:off x="2078460" y="1087155"/>
            <a:ext cx="4571364" cy="4353471"/>
          </a:xfrm>
          <a:prstGeom prst="ellipse">
            <a:avLst/>
          </a:prstGeom>
          <a:solidFill>
            <a:srgbClr val="00B050">
              <a:alpha val="10000"/>
            </a:srgbClr>
          </a:solidFill>
          <a:ln w="12700">
            <a:solidFill>
              <a:srgbClr val="4ECDC4">
                <a:alpha val="10000"/>
              </a:srgbClr>
            </a:solidFill>
            <a:prstDash val="solid"/>
          </a:ln>
        </p:spPr>
        <p:txBody>
          <a:bodyPr/>
          <a:lstStyle/>
          <a:p>
            <a:endParaRPr lang="ja-JP" altLang="en-US" dirty="0"/>
          </a:p>
        </p:txBody>
      </p:sp>
      <p:sp>
        <p:nvSpPr>
          <p:cNvPr id="2" name="Shape 0"/>
          <p:cNvSpPr/>
          <p:nvPr/>
        </p:nvSpPr>
        <p:spPr>
          <a:xfrm>
            <a:off x="57453" y="213710"/>
            <a:ext cx="3914268" cy="3271735"/>
          </a:xfrm>
          <a:prstGeom prst="ellipse">
            <a:avLst/>
          </a:prstGeom>
          <a:solidFill>
            <a:srgbClr val="4ECDC4">
              <a:alpha val="10000"/>
            </a:srgbClr>
          </a:solidFill>
          <a:ln w="12700">
            <a:solidFill>
              <a:srgbClr val="4ECDC4">
                <a:alpha val="10000"/>
              </a:srgbClr>
            </a:solidFill>
            <a:prstDash val="solid"/>
          </a:ln>
        </p:spPr>
        <p:txBody>
          <a:bodyPr/>
          <a:lstStyle/>
          <a:p>
            <a:endParaRPr lang="ja-JP" altLang="en-US" dirty="0"/>
          </a:p>
        </p:txBody>
      </p:sp>
      <p:sp>
        <p:nvSpPr>
          <p:cNvPr id="3" name="Shape 1"/>
          <p:cNvSpPr/>
          <p:nvPr/>
        </p:nvSpPr>
        <p:spPr>
          <a:xfrm>
            <a:off x="4651203" y="213710"/>
            <a:ext cx="3553953" cy="3822859"/>
          </a:xfrm>
          <a:prstGeom prst="ellipse">
            <a:avLst/>
          </a:prstGeom>
          <a:solidFill>
            <a:srgbClr val="E55039">
              <a:alpha val="10000"/>
            </a:srgbClr>
          </a:solidFill>
          <a:ln w="12700">
            <a:solidFill>
              <a:srgbClr val="E55039">
                <a:alpha val="10000"/>
              </a:srgbClr>
            </a:solidFill>
            <a:prstDash val="solid"/>
          </a:ln>
        </p:spPr>
        <p:txBody>
          <a:bodyPr/>
          <a:lstStyle/>
          <a:p>
            <a:endParaRPr lang="ja-JP" altLang="en-US"/>
          </a:p>
        </p:txBody>
      </p:sp>
      <p:sp>
        <p:nvSpPr>
          <p:cNvPr id="4" name="Text 2"/>
          <p:cNvSpPr/>
          <p:nvPr/>
        </p:nvSpPr>
        <p:spPr>
          <a:xfrm>
            <a:off x="457200" y="182880"/>
            <a:ext cx="8229600" cy="594360"/>
          </a:xfrm>
          <a:prstGeom prst="rect">
            <a:avLst/>
          </a:prstGeom>
          <a:noFill/>
          <a:ln/>
        </p:spPr>
        <p:txBody>
          <a:bodyPr wrap="square" rtlCol="0" anchor="ctr"/>
          <a:lstStyle/>
          <a:p>
            <a:pPr marL="0" indent="0" algn="ctr">
              <a:buNone/>
            </a:pPr>
            <a:r>
              <a:rPr lang="en-US" sz="3600" b="1" dirty="0">
                <a:solidFill>
                  <a:srgbClr val="FFFFFF"/>
                </a:solidFill>
                <a:latin typeface="Arial Black" pitchFamily="34" charset="0"/>
                <a:ea typeface="Arial Black" pitchFamily="34" charset="-122"/>
                <a:cs typeface="Arial Black" pitchFamily="34" charset="-120"/>
              </a:rPr>
              <a:t>まとめ</a:t>
            </a:r>
            <a:endParaRPr lang="en-US" sz="3600" dirty="0"/>
          </a:p>
        </p:txBody>
      </p:sp>
      <p:pic>
        <p:nvPicPr>
          <p:cNvPr id="90" name="図 89">
            <a:extLst>
              <a:ext uri="{FF2B5EF4-FFF2-40B4-BE49-F238E27FC236}">
                <a16:creationId xmlns:a16="http://schemas.microsoft.com/office/drawing/2014/main" id="{7BEF80EF-70E2-6CE5-3D66-4B15F798A5ED}"/>
              </a:ext>
            </a:extLst>
          </p:cNvPr>
          <p:cNvPicPr>
            <a:picLocks noChangeAspect="1"/>
          </p:cNvPicPr>
          <p:nvPr/>
        </p:nvPicPr>
        <p:blipFill>
          <a:blip r:embed="rId3"/>
          <a:stretch>
            <a:fillRect/>
          </a:stretch>
        </p:blipFill>
        <p:spPr>
          <a:xfrm>
            <a:off x="300607" y="963466"/>
            <a:ext cx="1650453" cy="611903"/>
          </a:xfrm>
          <a:prstGeom prst="rect">
            <a:avLst/>
          </a:prstGeom>
        </p:spPr>
      </p:pic>
      <p:pic>
        <p:nvPicPr>
          <p:cNvPr id="91" name="図 90">
            <a:extLst>
              <a:ext uri="{FF2B5EF4-FFF2-40B4-BE49-F238E27FC236}">
                <a16:creationId xmlns:a16="http://schemas.microsoft.com/office/drawing/2014/main" id="{9721BC92-4986-EBA7-EBBD-38E3ABB3CF1E}"/>
              </a:ext>
            </a:extLst>
          </p:cNvPr>
          <p:cNvPicPr>
            <a:picLocks noChangeAspect="1"/>
          </p:cNvPicPr>
          <p:nvPr/>
        </p:nvPicPr>
        <p:blipFill>
          <a:blip r:embed="rId4"/>
          <a:stretch>
            <a:fillRect/>
          </a:stretch>
        </p:blipFill>
        <p:spPr>
          <a:xfrm>
            <a:off x="378849" y="1624819"/>
            <a:ext cx="1635287" cy="773919"/>
          </a:xfrm>
          <a:prstGeom prst="rect">
            <a:avLst/>
          </a:prstGeom>
        </p:spPr>
      </p:pic>
      <p:pic>
        <p:nvPicPr>
          <p:cNvPr id="92" name="図 91">
            <a:extLst>
              <a:ext uri="{FF2B5EF4-FFF2-40B4-BE49-F238E27FC236}">
                <a16:creationId xmlns:a16="http://schemas.microsoft.com/office/drawing/2014/main" id="{CB64F5D3-70AE-D98F-A167-62959A8F39C7}"/>
              </a:ext>
            </a:extLst>
          </p:cNvPr>
          <p:cNvPicPr>
            <a:picLocks noChangeAspect="1"/>
          </p:cNvPicPr>
          <p:nvPr/>
        </p:nvPicPr>
        <p:blipFill>
          <a:blip r:embed="rId5"/>
          <a:stretch>
            <a:fillRect/>
          </a:stretch>
        </p:blipFill>
        <p:spPr>
          <a:xfrm>
            <a:off x="2321834" y="1591936"/>
            <a:ext cx="1755247" cy="606022"/>
          </a:xfrm>
          <a:prstGeom prst="rect">
            <a:avLst/>
          </a:prstGeom>
        </p:spPr>
      </p:pic>
      <p:pic>
        <p:nvPicPr>
          <p:cNvPr id="94" name="図 93">
            <a:extLst>
              <a:ext uri="{FF2B5EF4-FFF2-40B4-BE49-F238E27FC236}">
                <a16:creationId xmlns:a16="http://schemas.microsoft.com/office/drawing/2014/main" id="{17747587-F0F0-BBBF-E14A-3E744AAC9DAF}"/>
              </a:ext>
            </a:extLst>
          </p:cNvPr>
          <p:cNvPicPr>
            <a:picLocks noChangeAspect="1"/>
          </p:cNvPicPr>
          <p:nvPr/>
        </p:nvPicPr>
        <p:blipFill>
          <a:blip r:embed="rId6"/>
          <a:stretch>
            <a:fillRect/>
          </a:stretch>
        </p:blipFill>
        <p:spPr>
          <a:xfrm>
            <a:off x="4700315" y="2179155"/>
            <a:ext cx="1621722" cy="713036"/>
          </a:xfrm>
          <a:prstGeom prst="rect">
            <a:avLst/>
          </a:prstGeom>
        </p:spPr>
      </p:pic>
      <p:pic>
        <p:nvPicPr>
          <p:cNvPr id="95" name="図 94">
            <a:extLst>
              <a:ext uri="{FF2B5EF4-FFF2-40B4-BE49-F238E27FC236}">
                <a16:creationId xmlns:a16="http://schemas.microsoft.com/office/drawing/2014/main" id="{01280255-8F4B-635F-1E6D-5584F9A43E3A}"/>
              </a:ext>
            </a:extLst>
          </p:cNvPr>
          <p:cNvPicPr>
            <a:picLocks noChangeAspect="1"/>
          </p:cNvPicPr>
          <p:nvPr/>
        </p:nvPicPr>
        <p:blipFill>
          <a:blip r:embed="rId7"/>
          <a:stretch>
            <a:fillRect/>
          </a:stretch>
        </p:blipFill>
        <p:spPr>
          <a:xfrm>
            <a:off x="2498778" y="3195198"/>
            <a:ext cx="3074534" cy="1513248"/>
          </a:xfrm>
          <a:prstGeom prst="rect">
            <a:avLst/>
          </a:prstGeom>
        </p:spPr>
      </p:pic>
      <p:pic>
        <p:nvPicPr>
          <p:cNvPr id="96" name="図 95">
            <a:extLst>
              <a:ext uri="{FF2B5EF4-FFF2-40B4-BE49-F238E27FC236}">
                <a16:creationId xmlns:a16="http://schemas.microsoft.com/office/drawing/2014/main" id="{B51AEFD1-C73F-03DE-1155-37C3FC2AF26D}"/>
              </a:ext>
            </a:extLst>
          </p:cNvPr>
          <p:cNvPicPr>
            <a:picLocks noChangeAspect="1"/>
          </p:cNvPicPr>
          <p:nvPr/>
        </p:nvPicPr>
        <p:blipFill>
          <a:blip r:embed="rId8"/>
          <a:stretch>
            <a:fillRect/>
          </a:stretch>
        </p:blipFill>
        <p:spPr>
          <a:xfrm>
            <a:off x="6221490" y="924240"/>
            <a:ext cx="1679051" cy="766124"/>
          </a:xfrm>
          <a:prstGeom prst="rect">
            <a:avLst/>
          </a:prstGeom>
        </p:spPr>
      </p:pic>
      <p:sp>
        <p:nvSpPr>
          <p:cNvPr id="97" name="テキスト ボックス 96">
            <a:extLst>
              <a:ext uri="{FF2B5EF4-FFF2-40B4-BE49-F238E27FC236}">
                <a16:creationId xmlns:a16="http://schemas.microsoft.com/office/drawing/2014/main" id="{3AE79C19-8462-9D39-157E-6298F043CEC4}"/>
              </a:ext>
            </a:extLst>
          </p:cNvPr>
          <p:cNvSpPr txBox="1"/>
          <p:nvPr/>
        </p:nvSpPr>
        <p:spPr>
          <a:xfrm>
            <a:off x="681182" y="594134"/>
            <a:ext cx="1444626" cy="369332"/>
          </a:xfrm>
          <a:prstGeom prst="rect">
            <a:avLst/>
          </a:prstGeom>
          <a:noFill/>
        </p:spPr>
        <p:txBody>
          <a:bodyPr wrap="none" rtlCol="0">
            <a:spAutoFit/>
          </a:bodyPr>
          <a:lstStyle/>
          <a:p>
            <a:r>
              <a:rPr kumimoji="1" lang="ja-JP" altLang="en-US" dirty="0">
                <a:solidFill>
                  <a:schemeClr val="accent2"/>
                </a:solidFill>
              </a:rPr>
              <a:t>ローグライク</a:t>
            </a:r>
          </a:p>
        </p:txBody>
      </p:sp>
      <p:sp>
        <p:nvSpPr>
          <p:cNvPr id="99" name="テキスト ボックス 98">
            <a:extLst>
              <a:ext uri="{FF2B5EF4-FFF2-40B4-BE49-F238E27FC236}">
                <a16:creationId xmlns:a16="http://schemas.microsoft.com/office/drawing/2014/main" id="{AE556464-DE97-095F-9948-0E6BF926527D}"/>
              </a:ext>
            </a:extLst>
          </p:cNvPr>
          <p:cNvSpPr txBox="1"/>
          <p:nvPr/>
        </p:nvSpPr>
        <p:spPr>
          <a:xfrm>
            <a:off x="3617008" y="4708446"/>
            <a:ext cx="1794081" cy="369332"/>
          </a:xfrm>
          <a:prstGeom prst="rect">
            <a:avLst/>
          </a:prstGeom>
          <a:noFill/>
        </p:spPr>
        <p:txBody>
          <a:bodyPr wrap="none" rtlCol="0">
            <a:spAutoFit/>
          </a:bodyPr>
          <a:lstStyle/>
          <a:p>
            <a:r>
              <a:rPr kumimoji="1" lang="ja-JP" altLang="en-US" dirty="0">
                <a:solidFill>
                  <a:schemeClr val="accent2"/>
                </a:solidFill>
              </a:rPr>
              <a:t>アクション、探索</a:t>
            </a:r>
          </a:p>
        </p:txBody>
      </p:sp>
      <p:sp>
        <p:nvSpPr>
          <p:cNvPr id="101" name="テキスト ボックス 100">
            <a:extLst>
              <a:ext uri="{FF2B5EF4-FFF2-40B4-BE49-F238E27FC236}">
                <a16:creationId xmlns:a16="http://schemas.microsoft.com/office/drawing/2014/main" id="{E1115E15-4BB0-C656-F700-4E44C0DFD224}"/>
              </a:ext>
            </a:extLst>
          </p:cNvPr>
          <p:cNvSpPr txBox="1"/>
          <p:nvPr/>
        </p:nvSpPr>
        <p:spPr>
          <a:xfrm>
            <a:off x="5644999" y="560564"/>
            <a:ext cx="861133" cy="369332"/>
          </a:xfrm>
          <a:prstGeom prst="rect">
            <a:avLst/>
          </a:prstGeom>
          <a:noFill/>
        </p:spPr>
        <p:txBody>
          <a:bodyPr wrap="none" rtlCol="0">
            <a:spAutoFit/>
          </a:bodyPr>
          <a:lstStyle/>
          <a:p>
            <a:r>
              <a:rPr kumimoji="1" lang="ja-JP" altLang="en-US" dirty="0">
                <a:solidFill>
                  <a:schemeClr val="accent2"/>
                </a:solidFill>
              </a:rPr>
              <a:t>パズル</a:t>
            </a:r>
          </a:p>
        </p:txBody>
      </p:sp>
      <p:pic>
        <p:nvPicPr>
          <p:cNvPr id="103" name="図 102">
            <a:extLst>
              <a:ext uri="{FF2B5EF4-FFF2-40B4-BE49-F238E27FC236}">
                <a16:creationId xmlns:a16="http://schemas.microsoft.com/office/drawing/2014/main" id="{45215A70-ED7A-E5CD-5C67-DD7C795E9A43}"/>
              </a:ext>
            </a:extLst>
          </p:cNvPr>
          <p:cNvPicPr>
            <a:picLocks noChangeAspect="1"/>
          </p:cNvPicPr>
          <p:nvPr/>
        </p:nvPicPr>
        <p:blipFill>
          <a:blip r:embed="rId9"/>
          <a:stretch>
            <a:fillRect/>
          </a:stretch>
        </p:blipFill>
        <p:spPr>
          <a:xfrm>
            <a:off x="6549032" y="1981058"/>
            <a:ext cx="1560547" cy="627230"/>
          </a:xfrm>
          <a:prstGeom prst="rect">
            <a:avLst/>
          </a:prstGeom>
        </p:spPr>
      </p:pic>
      <p:pic>
        <p:nvPicPr>
          <p:cNvPr id="110" name="図 109">
            <a:extLst>
              <a:ext uri="{FF2B5EF4-FFF2-40B4-BE49-F238E27FC236}">
                <a16:creationId xmlns:a16="http://schemas.microsoft.com/office/drawing/2014/main" id="{6F0027D3-8684-AA90-5C5D-B42A47CA158E}"/>
              </a:ext>
            </a:extLst>
          </p:cNvPr>
          <p:cNvPicPr>
            <a:picLocks noChangeAspect="1"/>
          </p:cNvPicPr>
          <p:nvPr/>
        </p:nvPicPr>
        <p:blipFill>
          <a:blip r:embed="rId10"/>
          <a:stretch>
            <a:fillRect/>
          </a:stretch>
        </p:blipFill>
        <p:spPr>
          <a:xfrm>
            <a:off x="4911946" y="1774480"/>
            <a:ext cx="1121748" cy="293301"/>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ユーザー定義 1">
      <a:majorFont>
        <a:latin typeface="BIZ UDPゴシック"/>
        <a:ea typeface="BIZ UDPゴシック"/>
        <a:cs typeface=""/>
      </a:majorFont>
      <a:minorFont>
        <a:latin typeface="BIZ UDPゴシック"/>
        <a:ea typeface="BIZ UDPゴシック"/>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テーマ">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游ゴシック Light"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63</TotalTime>
  <Words>461</Words>
  <Application>Microsoft Office PowerPoint</Application>
  <PresentationFormat>画面に合わせる (16:9)</PresentationFormat>
  <Paragraphs>141</Paragraphs>
  <Slides>8</Slides>
  <Notes>8</Notes>
  <HiddenSlides>0</HiddenSlides>
  <MMClips>0</MMClips>
  <ScaleCrop>false</ScaleCrop>
  <HeadingPairs>
    <vt:vector size="6" baseType="variant">
      <vt:variant>
        <vt:lpstr>使用されているフォント</vt:lpstr>
      </vt:variant>
      <vt:variant>
        <vt:i4>2</vt:i4>
      </vt:variant>
      <vt:variant>
        <vt:lpstr>テーマ</vt:lpstr>
      </vt:variant>
      <vt:variant>
        <vt:i4>1</vt:i4>
      </vt:variant>
      <vt:variant>
        <vt:lpstr>スライド タイトル</vt:lpstr>
      </vt:variant>
      <vt:variant>
        <vt:i4>8</vt:i4>
      </vt:variant>
    </vt:vector>
  </HeadingPairs>
  <TitlesOfParts>
    <vt:vector size="11" baseType="lpstr">
      <vt:lpstr>Arial</vt:lpstr>
      <vt:lpstr>Arial Black</vt:lpstr>
      <vt:lpstr>Office Theme</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あ は</cp:lastModifiedBy>
  <cp:revision>2</cp:revision>
  <dcterms:created xsi:type="dcterms:W3CDTF">2026-04-21T12:36:11Z</dcterms:created>
  <dcterms:modified xsi:type="dcterms:W3CDTF">2026-04-21T13:45:51Z</dcterms:modified>
</cp:coreProperties>
</file>